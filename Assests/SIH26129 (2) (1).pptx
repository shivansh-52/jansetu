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Roboto"/>
      <p:regular r:id="rId12"/>
      <p:bold r:id="rId13"/>
      <p:italic r:id="rId14"/>
      <p:boldItalic r:id="rId15"/>
    </p:embeddedFont>
    <p:embeddedFont>
      <p:font typeface="Garamond"/>
      <p:regular r:id="rId16"/>
      <p:bold r:id="rId17"/>
      <p:italic r:id="rId18"/>
      <p:boldItalic r:id="rId19"/>
    </p:embeddedFont>
    <p:embeddedFont>
      <p:font typeface="Oswald"/>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2" roundtripDataSignature="AMtx7mgn4Rt2kE7GUH20o6Uxnt3Fpc1Z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regular.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Oswald-bold.fntdata"/><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Garamond-bold.fntdata"/><Relationship Id="rId16" Type="http://schemas.openxmlformats.org/officeDocument/2006/relationships/font" Target="fonts/Garamond-regular.fntdata"/><Relationship Id="rId5" Type="http://schemas.openxmlformats.org/officeDocument/2006/relationships/notesMaster" Target="notesMasters/notesMaster1.xml"/><Relationship Id="rId19" Type="http://schemas.openxmlformats.org/officeDocument/2006/relationships/font" Target="fonts/Garamond-boldItalic.fntdata"/><Relationship Id="rId6" Type="http://schemas.openxmlformats.org/officeDocument/2006/relationships/slide" Target="slides/slide1.xml"/><Relationship Id="rId18" Type="http://schemas.openxmlformats.org/officeDocument/2006/relationships/font" Target="fonts/Garamon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96" name="Google Shape;9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25" name="Google Shape;12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41" name="Google Shape;14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58" name="Google Shape;15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8"/>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9"/>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10"/>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11"/>
          <p:cNvSpPr txBox="1"/>
          <p:nvPr>
            <p:ph idx="1" type="body"/>
          </p:nvPr>
        </p:nvSpPr>
        <p:spPr>
          <a:xfrm>
            <a:off x="609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1"/>
          <p:cNvSpPr txBox="1"/>
          <p:nvPr>
            <p:ph idx="2" type="body"/>
          </p:nvPr>
        </p:nvSpPr>
        <p:spPr>
          <a:xfrm>
            <a:off x="6197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12"/>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2"/>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2"/>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2"/>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1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5"/>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15"/>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15"/>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1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6"/>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16"/>
          <p:cNvSpPr/>
          <p:nvPr>
            <p:ph idx="2" type="pic"/>
          </p:nvPr>
        </p:nvSpPr>
        <p:spPr>
          <a:xfrm>
            <a:off x="2389717" y="612775"/>
            <a:ext cx="7315200" cy="4114800"/>
          </a:xfrm>
          <a:prstGeom prst="rect">
            <a:avLst/>
          </a:prstGeom>
          <a:noFill/>
          <a:ln>
            <a:noFill/>
          </a:ln>
        </p:spPr>
      </p:sp>
      <p:sp>
        <p:nvSpPr>
          <p:cNvPr id="68" name="Google Shape;68;p16"/>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17"/>
          <p:cNvSpPr txBox="1"/>
          <p:nvPr>
            <p:ph idx="1" type="body"/>
          </p:nvPr>
        </p:nvSpPr>
        <p:spPr>
          <a:xfrm rot="5400000">
            <a:off x="3580606" y="-1875631"/>
            <a:ext cx="5030788"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8"/>
          <p:cNvSpPr txBox="1"/>
          <p:nvPr>
            <p:ph type="title"/>
          </p:nvPr>
        </p:nvSpPr>
        <p:spPr>
          <a:xfrm rot="5400000">
            <a:off x="7285038" y="1828804"/>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18"/>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9pPr>
          </a:lstStyle>
          <a:p/>
        </p:txBody>
      </p:sp>
      <p:sp>
        <p:nvSpPr>
          <p:cNvPr id="11" name="Google Shape;11;p7"/>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Oswald"/>
                <a:ea typeface="Oswald"/>
                <a:cs typeface="Oswald"/>
                <a:sym typeface="Oswald"/>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Oswald"/>
                <a:ea typeface="Oswald"/>
                <a:cs typeface="Oswald"/>
                <a:sym typeface="Oswald"/>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Oswald"/>
                <a:ea typeface="Oswald"/>
                <a:cs typeface="Oswald"/>
                <a:sym typeface="Oswa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Oswald"/>
                <a:ea typeface="Oswald"/>
                <a:cs typeface="Oswald"/>
                <a:sym typeface="Oswa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hyperlink" Target="https://github.com/Shivansh-52/Jansetu.g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pgportal.gov.in/" TargetMode="External"/><Relationship Id="rId4" Type="http://schemas.openxmlformats.org/officeDocument/2006/relationships/hyperlink" Target="https://services.india.gov.in/" TargetMode="External"/><Relationship Id="rId10" Type="http://schemas.openxmlformats.org/officeDocument/2006/relationships/image" Target="../media/image1.png"/><Relationship Id="rId9" Type="http://schemas.openxmlformats.org/officeDocument/2006/relationships/image" Target="../media/image2.png"/><Relationship Id="rId5" Type="http://schemas.openxmlformats.org/officeDocument/2006/relationships/hyperlink" Target="https://data.gov.in/" TargetMode="External"/><Relationship Id="rId6" Type="http://schemas.openxmlformats.org/officeDocument/2006/relationships/hyperlink" Target="https://docs.apisetu.gov.in/document-central/mdds/Introduction.html" TargetMode="External"/><Relationship Id="rId7" Type="http://schemas.openxmlformats.org/officeDocument/2006/relationships/hyperlink" Target="https://jansetu-nq8s.onrender.com/" TargetMode="External"/><Relationship Id="rId8" Type="http://schemas.openxmlformats.org/officeDocument/2006/relationships/hyperlink" Target="https://drive.google.com/drive/folders/1tkv5C6uyZRkYQMvk8dGtS7vpGJ21Ca27?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152400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txBox="1"/>
          <p:nvPr>
            <p:ph idx="1" type="subTitle"/>
          </p:nvPr>
        </p:nvSpPr>
        <p:spPr>
          <a:xfrm>
            <a:off x="1245686" y="648614"/>
            <a:ext cx="85344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640"/>
              </a:spcBef>
              <a:spcAft>
                <a:spcPts val="0"/>
              </a:spcAft>
              <a:buClr>
                <a:schemeClr val="dk1"/>
              </a:buClr>
              <a:buSzPts val="3200"/>
              <a:buNone/>
            </a:pPr>
            <a:r>
              <a:rPr b="1" lang="en-US">
                <a:solidFill>
                  <a:schemeClr val="dk1"/>
                </a:solidFill>
                <a:latin typeface="Times New Roman"/>
                <a:ea typeface="Times New Roman"/>
                <a:cs typeface="Times New Roman"/>
                <a:sym typeface="Times New Roman"/>
              </a:rPr>
              <a:t>SamadhanPath</a:t>
            </a:r>
            <a:endParaRPr b="1">
              <a:solidFill>
                <a:schemeClr val="dk1"/>
              </a:solidFill>
              <a:latin typeface="Times New Roman"/>
              <a:ea typeface="Times New Roman"/>
              <a:cs typeface="Times New Roman"/>
              <a:sym typeface="Times New Roman"/>
            </a:endParaRPr>
          </a:p>
        </p:txBody>
      </p:sp>
      <p:sp>
        <p:nvSpPr>
          <p:cNvPr id="90" name="Google Shape;90;p1"/>
          <p:cNvSpPr txBox="1"/>
          <p:nvPr>
            <p:ph type="ctrTitle"/>
          </p:nvPr>
        </p:nvSpPr>
        <p:spPr>
          <a:xfrm>
            <a:off x="2773050" y="298625"/>
            <a:ext cx="6552000" cy="870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solidFill>
                  <a:schemeClr val="dk2"/>
                </a:solidFill>
                <a:latin typeface="Garamond"/>
                <a:ea typeface="Garamond"/>
                <a:cs typeface="Garamond"/>
                <a:sym typeface="Garamond"/>
              </a:rPr>
              <a:t>TEKATHON-5.0- 2026</a:t>
            </a:r>
            <a:endParaRPr b="1" sz="4000">
              <a:solidFill>
                <a:schemeClr val="dk2"/>
              </a:solidFill>
              <a:latin typeface="Garamond"/>
              <a:ea typeface="Garamond"/>
              <a:cs typeface="Garamond"/>
              <a:sym typeface="Garamond"/>
            </a:endParaRPr>
          </a:p>
        </p:txBody>
      </p:sp>
      <p:pic>
        <p:nvPicPr>
          <p:cNvPr id="91" name="Google Shape;91;p1" title="crazy.png"/>
          <p:cNvPicPr preferRelativeResize="0"/>
          <p:nvPr/>
        </p:nvPicPr>
        <p:blipFill rotWithShape="1">
          <a:blip r:embed="rId3">
            <a:alphaModFix/>
          </a:blip>
          <a:srcRect b="0" l="0" r="0" t="0"/>
          <a:stretch/>
        </p:blipFill>
        <p:spPr>
          <a:xfrm>
            <a:off x="10377525" y="298623"/>
            <a:ext cx="1167750" cy="1025275"/>
          </a:xfrm>
          <a:prstGeom prst="rect">
            <a:avLst/>
          </a:prstGeom>
          <a:noFill/>
          <a:ln>
            <a:noFill/>
          </a:ln>
        </p:spPr>
      </p:pic>
      <p:pic>
        <p:nvPicPr>
          <p:cNvPr id="92" name="Google Shape;92;p1" title="SIH-Logo.png"/>
          <p:cNvPicPr preferRelativeResize="0"/>
          <p:nvPr/>
        </p:nvPicPr>
        <p:blipFill rotWithShape="1">
          <a:blip r:embed="rId4">
            <a:alphaModFix/>
          </a:blip>
          <a:srcRect b="0" l="0" r="0" t="0"/>
          <a:stretch/>
        </p:blipFill>
        <p:spPr>
          <a:xfrm>
            <a:off x="407980" y="280891"/>
            <a:ext cx="1724025" cy="876300"/>
          </a:xfrm>
          <a:prstGeom prst="rect">
            <a:avLst/>
          </a:prstGeom>
          <a:noFill/>
          <a:ln>
            <a:noFill/>
          </a:ln>
        </p:spPr>
      </p:pic>
      <p:sp>
        <p:nvSpPr>
          <p:cNvPr id="93" name="Google Shape;93;p1"/>
          <p:cNvSpPr txBox="1"/>
          <p:nvPr/>
        </p:nvSpPr>
        <p:spPr>
          <a:xfrm>
            <a:off x="407975" y="1977600"/>
            <a:ext cx="11137200" cy="4093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285750" lvl="0" marL="285750" marR="0" rtl="0" algn="just">
              <a:lnSpc>
                <a:spcPct val="200000"/>
              </a:lnSpc>
              <a:spcBef>
                <a:spcPts val="0"/>
              </a:spcBef>
              <a:spcAft>
                <a:spcPts val="0"/>
              </a:spcAft>
              <a:buClr>
                <a:srgbClr val="1F497D"/>
              </a:buClr>
              <a:buSzPts val="2000"/>
              <a:buFont typeface="Arial"/>
              <a:buChar char="•"/>
            </a:pPr>
            <a:r>
              <a:rPr b="1" i="0" lang="en-US" sz="2000" u="none" cap="none" strike="noStrike">
                <a:solidFill>
                  <a:srgbClr val="1F497D"/>
                </a:solidFill>
                <a:latin typeface="Arial"/>
                <a:ea typeface="Arial"/>
                <a:cs typeface="Arial"/>
                <a:sym typeface="Arial"/>
              </a:rPr>
              <a:t>Problem Statement ID –  </a:t>
            </a:r>
            <a:r>
              <a:rPr b="1" i="0" lang="en-US" sz="2000" u="none" cap="none" strike="noStrike">
                <a:solidFill>
                  <a:srgbClr val="000000"/>
                </a:solidFill>
                <a:latin typeface="Arial"/>
                <a:ea typeface="Arial"/>
                <a:cs typeface="Arial"/>
                <a:sym typeface="Arial"/>
              </a:rPr>
              <a:t>SIH26129</a:t>
            </a:r>
            <a:endParaRPr b="0" i="0" sz="1400" u="none" cap="none" strike="noStrike">
              <a:solidFill>
                <a:srgbClr val="000000"/>
              </a:solidFill>
              <a:latin typeface="Arial"/>
              <a:ea typeface="Arial"/>
              <a:cs typeface="Arial"/>
              <a:sym typeface="Arial"/>
            </a:endParaRPr>
          </a:p>
          <a:p>
            <a:pPr indent="-285750" lvl="0" marL="285750" marR="0" rtl="0" algn="l">
              <a:lnSpc>
                <a:spcPct val="200000"/>
              </a:lnSpc>
              <a:spcBef>
                <a:spcPts val="0"/>
              </a:spcBef>
              <a:spcAft>
                <a:spcPts val="0"/>
              </a:spcAft>
              <a:buClr>
                <a:srgbClr val="1F497D"/>
              </a:buClr>
              <a:buSzPts val="2000"/>
              <a:buFont typeface="Arial"/>
              <a:buChar char="•"/>
            </a:pPr>
            <a:r>
              <a:rPr b="1" i="0" lang="en-US" sz="2000" u="none" cap="none" strike="noStrike">
                <a:solidFill>
                  <a:srgbClr val="1F497D"/>
                </a:solidFill>
                <a:latin typeface="Arial"/>
                <a:ea typeface="Arial"/>
                <a:cs typeface="Arial"/>
                <a:sym typeface="Arial"/>
              </a:rPr>
              <a:t>Problem Statement Title – </a:t>
            </a:r>
            <a:r>
              <a:rPr b="1" i="0" lang="en-US" sz="2000" u="none" cap="none" strike="noStrike">
                <a:solidFill>
                  <a:schemeClr val="dk1"/>
                </a:solidFill>
                <a:latin typeface="Arial"/>
                <a:ea typeface="Arial"/>
                <a:cs typeface="Arial"/>
                <a:sym typeface="Arial"/>
              </a:rPr>
              <a:t>System integration and interoperability among government digital platforms, resulting in fragmented service delivery</a:t>
            </a:r>
            <a:endParaRPr b="1" i="0" sz="2000" u="none" cap="none" strike="noStrike">
              <a:solidFill>
                <a:schemeClr val="dk1"/>
              </a:solidFill>
              <a:latin typeface="Arial"/>
              <a:ea typeface="Arial"/>
              <a:cs typeface="Arial"/>
              <a:sym typeface="Arial"/>
            </a:endParaRPr>
          </a:p>
          <a:p>
            <a:pPr indent="-285750" lvl="0" marL="285750" marR="0" rtl="0" algn="just">
              <a:lnSpc>
                <a:spcPct val="200000"/>
              </a:lnSpc>
              <a:spcBef>
                <a:spcPts val="0"/>
              </a:spcBef>
              <a:spcAft>
                <a:spcPts val="0"/>
              </a:spcAft>
              <a:buClr>
                <a:srgbClr val="1F497D"/>
              </a:buClr>
              <a:buSzPts val="2000"/>
              <a:buFont typeface="Arial"/>
              <a:buChar char="•"/>
            </a:pPr>
            <a:r>
              <a:rPr b="1" i="0" lang="en-US" sz="2000" u="none" cap="none" strike="noStrike">
                <a:solidFill>
                  <a:srgbClr val="1F497D"/>
                </a:solidFill>
                <a:latin typeface="Arial"/>
                <a:ea typeface="Arial"/>
                <a:cs typeface="Arial"/>
                <a:sym typeface="Arial"/>
              </a:rPr>
              <a:t>Theme – </a:t>
            </a:r>
            <a:r>
              <a:rPr b="1" i="0" lang="en-US" sz="2000" u="none" cap="none" strike="noStrike">
                <a:solidFill>
                  <a:srgbClr val="000000"/>
                </a:solidFill>
                <a:latin typeface="Arial"/>
                <a:ea typeface="Arial"/>
                <a:cs typeface="Arial"/>
                <a:sym typeface="Arial"/>
              </a:rPr>
              <a:t>Miscellaneous</a:t>
            </a:r>
            <a:endParaRPr b="0" i="0" sz="1400" u="none" cap="none" strike="noStrike">
              <a:solidFill>
                <a:srgbClr val="000000"/>
              </a:solidFill>
              <a:latin typeface="Arial"/>
              <a:ea typeface="Arial"/>
              <a:cs typeface="Arial"/>
              <a:sym typeface="Arial"/>
            </a:endParaRPr>
          </a:p>
          <a:p>
            <a:pPr indent="-285750" lvl="0" marL="285750" marR="0" rtl="0" algn="just">
              <a:lnSpc>
                <a:spcPct val="200000"/>
              </a:lnSpc>
              <a:spcBef>
                <a:spcPts val="0"/>
              </a:spcBef>
              <a:spcAft>
                <a:spcPts val="0"/>
              </a:spcAft>
              <a:buClr>
                <a:srgbClr val="1F497D"/>
              </a:buClr>
              <a:buSzPts val="2000"/>
              <a:buFont typeface="Arial"/>
              <a:buChar char="•"/>
            </a:pPr>
            <a:r>
              <a:rPr b="1" i="0" lang="en-US" sz="2000" u="none" cap="none" strike="noStrike">
                <a:solidFill>
                  <a:srgbClr val="1F497D"/>
                </a:solidFill>
                <a:latin typeface="Arial"/>
                <a:ea typeface="Arial"/>
                <a:cs typeface="Arial"/>
                <a:sym typeface="Arial"/>
              </a:rPr>
              <a:t>PS Category – </a:t>
            </a:r>
            <a:r>
              <a:rPr b="1" i="0" lang="en-US" sz="2000" u="none" cap="none" strike="noStrike">
                <a:solidFill>
                  <a:srgbClr val="000000"/>
                </a:solidFill>
                <a:latin typeface="Arial"/>
                <a:ea typeface="Arial"/>
                <a:cs typeface="Arial"/>
                <a:sym typeface="Arial"/>
              </a:rPr>
              <a:t>Software</a:t>
            </a:r>
            <a:endParaRPr b="0" i="0" sz="1400" u="none" cap="none" strike="noStrike">
              <a:solidFill>
                <a:srgbClr val="000000"/>
              </a:solidFill>
              <a:latin typeface="Arial"/>
              <a:ea typeface="Arial"/>
              <a:cs typeface="Arial"/>
              <a:sym typeface="Arial"/>
            </a:endParaRPr>
          </a:p>
          <a:p>
            <a:pPr indent="-285750" lvl="0" marL="285750" marR="0" rtl="0" algn="just">
              <a:lnSpc>
                <a:spcPct val="200000"/>
              </a:lnSpc>
              <a:spcBef>
                <a:spcPts val="0"/>
              </a:spcBef>
              <a:spcAft>
                <a:spcPts val="0"/>
              </a:spcAft>
              <a:buClr>
                <a:srgbClr val="1F497D"/>
              </a:buClr>
              <a:buSzPts val="2000"/>
              <a:buFont typeface="Arial"/>
              <a:buChar char="•"/>
            </a:pPr>
            <a:r>
              <a:rPr b="1" i="0" lang="en-US" sz="2000" u="none" cap="none" strike="noStrike">
                <a:solidFill>
                  <a:srgbClr val="1F497D"/>
                </a:solidFill>
                <a:latin typeface="Arial"/>
                <a:ea typeface="Arial"/>
                <a:cs typeface="Arial"/>
                <a:sym typeface="Arial"/>
              </a:rPr>
              <a:t>Team Name (Registered on portal) – </a:t>
            </a:r>
            <a:r>
              <a:rPr b="1" i="0" lang="en-US" sz="2000" u="none" cap="none" strike="noStrike">
                <a:solidFill>
                  <a:srgbClr val="000000"/>
                </a:solidFill>
                <a:latin typeface="Arial"/>
                <a:ea typeface="Arial"/>
                <a:cs typeface="Arial"/>
                <a:sym typeface="Arial"/>
              </a:rPr>
              <a:t>Code Matrix</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sp>
        <p:nvSpPr>
          <p:cNvPr id="100" name="Google Shape;100;p2"/>
          <p:cNvSpPr txBox="1"/>
          <p:nvPr>
            <p:ph type="title"/>
          </p:nvPr>
        </p:nvSpPr>
        <p:spPr>
          <a:xfrm>
            <a:off x="182998" y="0"/>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3600">
                <a:latin typeface="Times New Roman"/>
                <a:ea typeface="Times New Roman"/>
                <a:cs typeface="Times New Roman"/>
                <a:sym typeface="Times New Roman"/>
              </a:rPr>
              <a:t>SamadhanPath</a:t>
            </a:r>
            <a:endParaRPr/>
          </a:p>
        </p:txBody>
      </p:sp>
      <p:sp>
        <p:nvSpPr>
          <p:cNvPr id="101" name="Google Shape;101;p2"/>
          <p:cNvSpPr txBox="1"/>
          <p:nvPr/>
        </p:nvSpPr>
        <p:spPr>
          <a:xfrm>
            <a:off x="-242875" y="1306175"/>
            <a:ext cx="7253400" cy="5571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15000"/>
              </a:lnSpc>
              <a:spcBef>
                <a:spcPts val="0"/>
              </a:spcBef>
              <a:spcAft>
                <a:spcPts val="0"/>
              </a:spcAft>
              <a:buClr>
                <a:srgbClr val="000000"/>
              </a:buClr>
              <a:buSzPts val="2000"/>
              <a:buFont typeface="Arial"/>
              <a:buNone/>
            </a:pPr>
            <a:r>
              <a:rPr b="1" i="0" lang="en-US" sz="2000" u="none" cap="none" strike="noStrike">
                <a:solidFill>
                  <a:srgbClr val="1F1F1F"/>
                </a:solidFill>
                <a:highlight>
                  <a:srgbClr val="FFFFFF"/>
                </a:highlight>
                <a:latin typeface="Roboto"/>
                <a:ea typeface="Roboto"/>
                <a:cs typeface="Roboto"/>
                <a:sym typeface="Roboto"/>
              </a:rPr>
              <a:t>Proposed Solution:</a:t>
            </a:r>
            <a:r>
              <a:rPr b="0" i="0" lang="en-US" sz="1100" u="none" cap="none" strike="noStrike">
                <a:solidFill>
                  <a:schemeClr val="dk1"/>
                </a:solidFill>
                <a:latin typeface="Arial"/>
                <a:ea typeface="Arial"/>
                <a:cs typeface="Arial"/>
                <a:sym typeface="Arial"/>
              </a:rPr>
              <a:t> </a:t>
            </a:r>
            <a:r>
              <a:rPr b="0" i="0" lang="en-US" sz="1800" u="none" cap="none" strike="noStrike">
                <a:solidFill>
                  <a:srgbClr val="1F1F1F"/>
                </a:solidFill>
                <a:highlight>
                  <a:srgbClr val="FFFFFF"/>
                </a:highlight>
                <a:latin typeface="Roboto"/>
                <a:ea typeface="Roboto"/>
                <a:cs typeface="Roboto"/>
                <a:sym typeface="Roboto"/>
              </a:rPr>
              <a:t>Transitioning government services from a fragmented maze into a single, intelligent orchestration layer.</a:t>
            </a:r>
            <a:r>
              <a:rPr b="0"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330200" lvl="0" marL="1085850" marR="0" rtl="0" algn="just">
              <a:lnSpc>
                <a:spcPct val="115000"/>
              </a:lnSpc>
              <a:spcBef>
                <a:spcPts val="12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The Fragmented Reality (Current Process):</a:t>
            </a:r>
            <a:r>
              <a:rPr b="0" i="0" lang="en-US" sz="1600" u="none" cap="none" strike="noStrike">
                <a:solidFill>
                  <a:srgbClr val="1F1F1F"/>
                </a:solidFill>
                <a:highlight>
                  <a:srgbClr val="FFFFFF"/>
                </a:highlight>
                <a:latin typeface="Roboto"/>
                <a:ea typeface="Roboto"/>
                <a:cs typeface="Roboto"/>
                <a:sym typeface="Roboto"/>
              </a:rPr>
              <a:t> Citizens must manually identify, navigate, and register identical issues across isolated platforms like Municipal, Electricity, Water, or Welfare portals. This produces repeated data submissions, routing delays, and an invisible administrative workload.</a:t>
            </a:r>
            <a:endParaRPr b="0" i="0" sz="1600" u="none" cap="none" strike="noStrike">
              <a:solidFill>
                <a:srgbClr val="1F1F1F"/>
              </a:solidFill>
              <a:highlight>
                <a:srgbClr val="F0F4F9"/>
              </a:highlight>
              <a:latin typeface="Roboto"/>
              <a:ea typeface="Roboto"/>
              <a:cs typeface="Roboto"/>
              <a:sym typeface="Roboto"/>
            </a:endParaRPr>
          </a:p>
          <a:p>
            <a:pPr indent="-330200" lvl="0" marL="1085850" marR="0" rtl="0" algn="just">
              <a:lnSpc>
                <a:spcPct val="115000"/>
              </a:lnSpc>
              <a:spcBef>
                <a:spcPts val="10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The Orchestrated Solution (Proposed Process):</a:t>
            </a:r>
            <a:r>
              <a:rPr b="0" i="0" lang="en-US" sz="1600" u="none" cap="none" strike="noStrike">
                <a:solidFill>
                  <a:srgbClr val="1F1F1F"/>
                </a:solidFill>
                <a:highlight>
                  <a:srgbClr val="FFFFFF"/>
                </a:highlight>
                <a:latin typeface="Roboto"/>
                <a:ea typeface="Roboto"/>
                <a:cs typeface="Roboto"/>
                <a:sym typeface="Roboto"/>
              </a:rPr>
              <a:t> SamadhanPath acts as a unified entry point. Citizens simply report an issue using text, image, or voice. The platform automatically extracts location, classifies the problem, and dynamically routes it to the correct department's queue while maintaining a single tracking identity.</a:t>
            </a:r>
            <a:endParaRPr b="0" i="0" sz="1600" u="none" cap="none" strike="noStrike">
              <a:solidFill>
                <a:srgbClr val="1F1F1F"/>
              </a:solidFill>
              <a:highlight>
                <a:srgbClr val="FFFFFF"/>
              </a:highlight>
              <a:latin typeface="Roboto"/>
              <a:ea typeface="Roboto"/>
              <a:cs typeface="Roboto"/>
              <a:sym typeface="Roboto"/>
            </a:endParaRPr>
          </a:p>
          <a:p>
            <a:pPr indent="-330200" lvl="0" marL="1085850" marR="0" rtl="0" algn="just">
              <a:lnSpc>
                <a:spcPct val="115000"/>
              </a:lnSpc>
              <a:spcBef>
                <a:spcPts val="10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Core Innovation:</a:t>
            </a:r>
            <a:r>
              <a:rPr b="0" i="0" lang="en-US" sz="1600" u="none" cap="none" strike="noStrike">
                <a:solidFill>
                  <a:srgbClr val="1F1F1F"/>
                </a:solidFill>
                <a:highlight>
                  <a:srgbClr val="FFFFFF"/>
                </a:highlight>
                <a:latin typeface="Roboto"/>
                <a:ea typeface="Roboto"/>
                <a:cs typeface="Roboto"/>
                <a:sym typeface="Roboto"/>
              </a:rPr>
              <a:t> It does not replace existing departmental infrastructure. Instead, it functions as an interoperability layer that leaves backend operations intact while providing a unified service experience.</a:t>
            </a:r>
            <a:r>
              <a:rPr b="0" i="0" lang="en-US" sz="1600" u="none" cap="none" strike="noStrike">
                <a:solidFill>
                  <a:schemeClr val="dk1"/>
                </a:solidFill>
                <a:latin typeface="Arial"/>
                <a:ea typeface="Arial"/>
                <a:cs typeface="Arial"/>
                <a:sym typeface="Arial"/>
              </a:rPr>
              <a:t> </a:t>
            </a:r>
            <a:endParaRPr b="0" i="0" sz="1600" u="none" cap="none" strike="noStrike">
              <a:solidFill>
                <a:srgbClr val="1F1F1F"/>
              </a:solidFill>
              <a:highlight>
                <a:srgbClr val="FFFFFF"/>
              </a:highlight>
              <a:latin typeface="Roboto"/>
              <a:ea typeface="Roboto"/>
              <a:cs typeface="Roboto"/>
              <a:sym typeface="Roboto"/>
            </a:endParaRPr>
          </a:p>
          <a:p>
            <a:pPr indent="0" lvl="0" marL="457200" marR="0" rtl="0" algn="just">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US">
                <a:solidFill>
                  <a:schemeClr val="lt1"/>
                </a:solidFill>
              </a:rPr>
              <a:t>‹#›</a:t>
            </a:fld>
            <a:endParaRPr b="1">
              <a:solidFill>
                <a:schemeClr val="lt1"/>
              </a:solidFill>
            </a:endParaRPr>
          </a:p>
        </p:txBody>
      </p:sp>
      <p:pic>
        <p:nvPicPr>
          <p:cNvPr id="103" name="Google Shape;103;p2" title="crazy.png"/>
          <p:cNvPicPr preferRelativeResize="0"/>
          <p:nvPr/>
        </p:nvPicPr>
        <p:blipFill rotWithShape="1">
          <a:blip r:embed="rId3">
            <a:alphaModFix/>
          </a:blip>
          <a:srcRect b="0" l="0" r="0" t="0"/>
          <a:stretch/>
        </p:blipFill>
        <p:spPr>
          <a:xfrm>
            <a:off x="10871850" y="131919"/>
            <a:ext cx="1167750" cy="1025275"/>
          </a:xfrm>
          <a:prstGeom prst="rect">
            <a:avLst/>
          </a:prstGeom>
          <a:noFill/>
          <a:ln>
            <a:noFill/>
          </a:ln>
        </p:spPr>
      </p:pic>
      <p:pic>
        <p:nvPicPr>
          <p:cNvPr id="104" name="Google Shape;104;p2" title="SIH-Logo.png"/>
          <p:cNvPicPr preferRelativeResize="0"/>
          <p:nvPr/>
        </p:nvPicPr>
        <p:blipFill rotWithShape="1">
          <a:blip r:embed="rId4">
            <a:alphaModFix/>
          </a:blip>
          <a:srcRect b="0" l="0" r="0" t="0"/>
          <a:stretch/>
        </p:blipFill>
        <p:spPr>
          <a:xfrm>
            <a:off x="183005" y="133341"/>
            <a:ext cx="1724025" cy="876300"/>
          </a:xfrm>
          <a:prstGeom prst="rect">
            <a:avLst/>
          </a:prstGeom>
          <a:noFill/>
          <a:ln>
            <a:noFill/>
          </a:ln>
        </p:spPr>
      </p:pic>
      <p:pic>
        <p:nvPicPr>
          <p:cNvPr id="105" name="Google Shape;105;p2"/>
          <p:cNvPicPr preferRelativeResize="0"/>
          <p:nvPr/>
        </p:nvPicPr>
        <p:blipFill rotWithShape="1">
          <a:blip r:embed="rId5">
            <a:alphaModFix/>
          </a:blip>
          <a:srcRect b="0" l="0" r="0" t="0"/>
          <a:stretch/>
        </p:blipFill>
        <p:spPr>
          <a:xfrm>
            <a:off x="7195625" y="1739450"/>
            <a:ext cx="4843975" cy="4556500"/>
          </a:xfrm>
          <a:prstGeom prst="rect">
            <a:avLst/>
          </a:prstGeom>
          <a:noFill/>
          <a:ln>
            <a:noFill/>
          </a:ln>
        </p:spPr>
      </p:pic>
      <p:sp>
        <p:nvSpPr>
          <p:cNvPr id="106" name="Google Shape;106;p2"/>
          <p:cNvSpPr txBox="1"/>
          <p:nvPr>
            <p:ph idx="12" type="sldNum"/>
          </p:nvPr>
        </p:nvSpPr>
        <p:spPr>
          <a:xfrm>
            <a:off x="7195625" y="1306178"/>
            <a:ext cx="3909000" cy="714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200"/>
              </a:spcAft>
              <a:buSzPts val="1200"/>
              <a:buNone/>
            </a:pPr>
            <a:r>
              <a:rPr b="1" lang="en-US" sz="1800">
                <a:solidFill>
                  <a:srgbClr val="1F1F1F"/>
                </a:solidFill>
                <a:highlight>
                  <a:srgbClr val="FFFFFF"/>
                </a:highlight>
                <a:latin typeface="Roboto"/>
                <a:ea typeface="Roboto"/>
                <a:cs typeface="Roboto"/>
                <a:sym typeface="Roboto"/>
              </a:rPr>
              <a:t>End-to-End System Orchestration Flow:</a:t>
            </a:r>
            <a:endParaRPr b="1" sz="1800">
              <a:solidFill>
                <a:srgbClr val="1F1F1F"/>
              </a:solidFill>
              <a:highlight>
                <a:srgbClr val="FFFFFF"/>
              </a:highlight>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p:nvPr/>
        </p:nvSpPr>
        <p:spPr>
          <a:xfrm>
            <a:off x="0" y="6492900"/>
            <a:ext cx="12192000" cy="365100"/>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sp>
        <p:nvSpPr>
          <p:cNvPr id="113" name="Google Shape;113;p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3600">
                <a:latin typeface="Times New Roman"/>
                <a:ea typeface="Times New Roman"/>
                <a:cs typeface="Times New Roman"/>
                <a:sym typeface="Times New Roman"/>
              </a:rPr>
              <a:t>TECHNICAL APPROACH</a:t>
            </a:r>
            <a:endParaRPr/>
          </a:p>
        </p:txBody>
      </p:sp>
      <p:sp>
        <p:nvSpPr>
          <p:cNvPr id="114" name="Google Shape;114;p3"/>
          <p:cNvSpPr txBox="1"/>
          <p:nvPr/>
        </p:nvSpPr>
        <p:spPr>
          <a:xfrm>
            <a:off x="211375" y="1157200"/>
            <a:ext cx="5816400" cy="2757300"/>
          </a:xfrm>
          <a:prstGeom prst="rect">
            <a:avLst/>
          </a:prstGeom>
          <a:noFill/>
          <a:ln>
            <a:noFill/>
          </a:ln>
        </p:spPr>
        <p:txBody>
          <a:bodyPr anchorCtr="0" anchor="t" bIns="45700" lIns="114300" spcFirstLastPara="1" rIns="91425" wrap="square" tIns="45700">
            <a:spAutoFit/>
          </a:bodyPr>
          <a:lstStyle/>
          <a:p>
            <a:pPr indent="-57150" lvl="0" marL="57150" marR="0" rtl="0" algn="just">
              <a:lnSpc>
                <a:spcPct val="100000"/>
              </a:lnSpc>
              <a:spcBef>
                <a:spcPts val="0"/>
              </a:spcBef>
              <a:spcAft>
                <a:spcPts val="0"/>
              </a:spcAft>
              <a:buClr>
                <a:srgbClr val="000000"/>
              </a:buClr>
              <a:buSzPts val="2000"/>
              <a:buFont typeface="Arial"/>
              <a:buNone/>
            </a:pPr>
            <a:r>
              <a:rPr b="1" i="0" lang="en-US" sz="2000" u="none" cap="none" strike="noStrike">
                <a:solidFill>
                  <a:srgbClr val="1F1F1F"/>
                </a:solidFill>
                <a:highlight>
                  <a:srgbClr val="FFFFFF"/>
                </a:highlight>
                <a:latin typeface="Roboto"/>
                <a:ea typeface="Roboto"/>
                <a:cs typeface="Roboto"/>
                <a:sym typeface="Roboto"/>
              </a:rPr>
              <a:t>Technologies Used:</a:t>
            </a:r>
            <a:endParaRPr b="1" i="0" sz="2000" u="none" cap="none" strike="noStrike">
              <a:solidFill>
                <a:srgbClr val="1F1F1F"/>
              </a:solidFill>
              <a:highlight>
                <a:srgbClr val="FFFFFF"/>
              </a:highlight>
              <a:latin typeface="Roboto"/>
              <a:ea typeface="Roboto"/>
              <a:cs typeface="Roboto"/>
              <a:sym typeface="Roboto"/>
            </a:endParaRPr>
          </a:p>
          <a:p>
            <a:pPr indent="-330200" lvl="0" marL="457200" marR="0" rtl="0" algn="just">
              <a:lnSpc>
                <a:spcPct val="115000"/>
              </a:lnSpc>
              <a:spcBef>
                <a:spcPts val="10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Frontend:</a:t>
            </a:r>
            <a:r>
              <a:rPr b="0" i="0" lang="en-US" sz="1600" u="none" cap="none" strike="noStrike">
                <a:solidFill>
                  <a:srgbClr val="1F1F1F"/>
                </a:solidFill>
                <a:highlight>
                  <a:srgbClr val="FFFFFF"/>
                </a:highlight>
                <a:latin typeface="Roboto"/>
                <a:ea typeface="Roboto"/>
                <a:cs typeface="Roboto"/>
                <a:sym typeface="Roboto"/>
              </a:rPr>
              <a:t> React + Tailwind + PWA</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Backend:</a:t>
            </a:r>
            <a:r>
              <a:rPr b="0" i="0" lang="en-US" sz="1600" u="none" cap="none" strike="noStrike">
                <a:solidFill>
                  <a:srgbClr val="1F1F1F"/>
                </a:solidFill>
                <a:highlight>
                  <a:srgbClr val="FFFFFF"/>
                </a:highlight>
                <a:latin typeface="Roboto"/>
                <a:ea typeface="Roboto"/>
                <a:cs typeface="Roboto"/>
                <a:sym typeface="Roboto"/>
              </a:rPr>
              <a:t> Node.js + Express</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Database:</a:t>
            </a:r>
            <a:r>
              <a:rPr b="0" i="0" lang="en-US" sz="1600" u="none" cap="none" strike="noStrike">
                <a:solidFill>
                  <a:srgbClr val="1F1F1F"/>
                </a:solidFill>
                <a:highlight>
                  <a:srgbClr val="FFFFFF"/>
                </a:highlight>
                <a:latin typeface="Roboto"/>
                <a:ea typeface="Roboto"/>
                <a:cs typeface="Roboto"/>
                <a:sym typeface="Roboto"/>
              </a:rPr>
              <a:t> MongoDB / PostgreSQL</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Auth:</a:t>
            </a:r>
            <a:r>
              <a:rPr b="0" i="0" lang="en-US" sz="1600" u="none" cap="none" strike="noStrike">
                <a:solidFill>
                  <a:srgbClr val="1F1F1F"/>
                </a:solidFill>
                <a:highlight>
                  <a:srgbClr val="FFFFFF"/>
                </a:highlight>
                <a:latin typeface="Roboto"/>
                <a:ea typeface="Roboto"/>
                <a:cs typeface="Roboto"/>
                <a:sym typeface="Roboto"/>
              </a:rPr>
              <a:t> Clerk / Firebase Auth</a:t>
            </a:r>
            <a:endParaRPr b="0" i="0" sz="1600" u="none" cap="none" strike="noStrike">
              <a:solidFill>
                <a:srgbClr val="1F1F1F"/>
              </a:solidFill>
              <a:highlight>
                <a:srgbClr val="FFFFFF"/>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AI Layer:</a:t>
            </a:r>
            <a:r>
              <a:rPr b="0" i="0" lang="en-US" sz="1600" u="none" cap="none" strike="noStrike">
                <a:solidFill>
                  <a:srgbClr val="1F1F1F"/>
                </a:solidFill>
                <a:highlight>
                  <a:srgbClr val="FFFFFF"/>
                </a:highlight>
                <a:latin typeface="Roboto"/>
                <a:ea typeface="Roboto"/>
                <a:cs typeface="Roboto"/>
                <a:sym typeface="Roboto"/>
              </a:rPr>
              <a:t> TensorFlow.js / OpenCV</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Storage:</a:t>
            </a:r>
            <a:r>
              <a:rPr b="0" i="0" lang="en-US" sz="1600" u="none" cap="none" strike="noStrike">
                <a:solidFill>
                  <a:srgbClr val="1F1F1F"/>
                </a:solidFill>
                <a:highlight>
                  <a:srgbClr val="FFFFFF"/>
                </a:highlight>
                <a:latin typeface="Roboto"/>
                <a:ea typeface="Roboto"/>
                <a:cs typeface="Roboto"/>
                <a:sym typeface="Roboto"/>
              </a:rPr>
              <a:t> AWS S3 / Firebase Storage</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Maps:</a:t>
            </a:r>
            <a:r>
              <a:rPr b="0" i="0" lang="en-US" sz="1600" u="none" cap="none" strike="noStrike">
                <a:solidFill>
                  <a:srgbClr val="1F1F1F"/>
                </a:solidFill>
                <a:highlight>
                  <a:srgbClr val="FFFFFF"/>
                </a:highlight>
                <a:latin typeface="Roboto"/>
                <a:ea typeface="Roboto"/>
                <a:cs typeface="Roboto"/>
                <a:sym typeface="Roboto"/>
              </a:rPr>
              <a:t> Google Maps / Mapbox</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Notifications:</a:t>
            </a:r>
            <a:r>
              <a:rPr b="0" i="0" lang="en-US" sz="1600" u="none" cap="none" strike="noStrike">
                <a:solidFill>
                  <a:srgbClr val="1F1F1F"/>
                </a:solidFill>
                <a:highlight>
                  <a:srgbClr val="FFFFFF"/>
                </a:highlight>
                <a:latin typeface="Roboto"/>
                <a:ea typeface="Roboto"/>
                <a:cs typeface="Roboto"/>
                <a:sym typeface="Roboto"/>
              </a:rPr>
              <a:t> Firebase Cloud Messaging</a:t>
            </a:r>
            <a:endParaRPr b="0" i="0" sz="1600" u="none" cap="none" strike="noStrike">
              <a:solidFill>
                <a:srgbClr val="1F1F1F"/>
              </a:solidFill>
              <a:highlight>
                <a:srgbClr val="FFFFFF"/>
              </a:highlight>
              <a:latin typeface="Roboto"/>
              <a:ea typeface="Roboto"/>
              <a:cs typeface="Roboto"/>
              <a:sym typeface="Roboto"/>
            </a:endParaRPr>
          </a:p>
        </p:txBody>
      </p:sp>
      <p:sp>
        <p:nvSpPr>
          <p:cNvPr id="115" name="Google Shape;115;p3"/>
          <p:cNvSpPr/>
          <p:nvPr/>
        </p:nvSpPr>
        <p:spPr>
          <a:xfrm>
            <a:off x="0" y="6544880"/>
            <a:ext cx="12192000" cy="312900"/>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pic>
        <p:nvPicPr>
          <p:cNvPr id="116" name="Google Shape;116;p3" title="crazy.png"/>
          <p:cNvPicPr preferRelativeResize="0"/>
          <p:nvPr/>
        </p:nvPicPr>
        <p:blipFill rotWithShape="1">
          <a:blip r:embed="rId3">
            <a:alphaModFix/>
          </a:blip>
          <a:srcRect b="0" l="0" r="0" t="0"/>
          <a:stretch/>
        </p:blipFill>
        <p:spPr>
          <a:xfrm>
            <a:off x="10712925" y="131923"/>
            <a:ext cx="1167750" cy="1025275"/>
          </a:xfrm>
          <a:prstGeom prst="rect">
            <a:avLst/>
          </a:prstGeom>
          <a:noFill/>
          <a:ln>
            <a:noFill/>
          </a:ln>
        </p:spPr>
      </p:pic>
      <p:pic>
        <p:nvPicPr>
          <p:cNvPr id="117" name="Google Shape;117;p3" title="SIH-Logo.png"/>
          <p:cNvPicPr preferRelativeResize="0"/>
          <p:nvPr/>
        </p:nvPicPr>
        <p:blipFill rotWithShape="1">
          <a:blip r:embed="rId4">
            <a:alphaModFix/>
          </a:blip>
          <a:srcRect b="0" l="0" r="0" t="0"/>
          <a:stretch/>
        </p:blipFill>
        <p:spPr>
          <a:xfrm>
            <a:off x="211380" y="131916"/>
            <a:ext cx="1724025" cy="876300"/>
          </a:xfrm>
          <a:prstGeom prst="rect">
            <a:avLst/>
          </a:prstGeom>
          <a:noFill/>
          <a:ln>
            <a:noFill/>
          </a:ln>
        </p:spPr>
      </p:pic>
      <p:pic>
        <p:nvPicPr>
          <p:cNvPr id="118" name="Google Shape;118;p3"/>
          <p:cNvPicPr preferRelativeResize="0"/>
          <p:nvPr/>
        </p:nvPicPr>
        <p:blipFill rotWithShape="1">
          <a:blip r:embed="rId5">
            <a:alphaModFix/>
          </a:blip>
          <a:srcRect b="0" l="0" r="0" t="0"/>
          <a:stretch/>
        </p:blipFill>
        <p:spPr>
          <a:xfrm>
            <a:off x="7354049" y="1453676"/>
            <a:ext cx="4626576" cy="4984825"/>
          </a:xfrm>
          <a:prstGeom prst="rect">
            <a:avLst/>
          </a:prstGeom>
          <a:noFill/>
          <a:ln>
            <a:noFill/>
          </a:ln>
        </p:spPr>
      </p:pic>
      <p:sp>
        <p:nvSpPr>
          <p:cNvPr id="119" name="Google Shape;119;p3"/>
          <p:cNvSpPr txBox="1"/>
          <p:nvPr/>
        </p:nvSpPr>
        <p:spPr>
          <a:xfrm>
            <a:off x="211375" y="3828075"/>
            <a:ext cx="7388960" cy="2546811"/>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15000"/>
              </a:lnSpc>
              <a:spcBef>
                <a:spcPts val="600"/>
              </a:spcBef>
              <a:spcAft>
                <a:spcPts val="0"/>
              </a:spcAft>
              <a:buClr>
                <a:srgbClr val="000000"/>
              </a:buClr>
              <a:buSzPts val="1800"/>
              <a:buFont typeface="Arial"/>
              <a:buNone/>
            </a:pPr>
            <a:r>
              <a:rPr b="1" i="0" lang="en-US" sz="1800" u="none" cap="none" strike="noStrike">
                <a:solidFill>
                  <a:srgbClr val="1F1F1F"/>
                </a:solidFill>
                <a:highlight>
                  <a:srgbClr val="FFFFFF"/>
                </a:highlight>
                <a:latin typeface="Roboto"/>
                <a:ea typeface="Roboto"/>
                <a:cs typeface="Roboto"/>
                <a:sym typeface="Roboto"/>
              </a:rPr>
              <a:t>Core Architectural Workflows:</a:t>
            </a:r>
            <a:endParaRPr b="1" i="0" sz="1800" u="none" cap="none" strike="noStrike">
              <a:solidFill>
                <a:srgbClr val="1F1F1F"/>
              </a:solidFill>
              <a:highlight>
                <a:srgbClr val="FFFFFF"/>
              </a:highlight>
              <a:latin typeface="Roboto"/>
              <a:ea typeface="Roboto"/>
              <a:cs typeface="Roboto"/>
              <a:sym typeface="Roboto"/>
            </a:endParaRPr>
          </a:p>
          <a:p>
            <a:pPr indent="-330200" lvl="0" marL="457200" marR="0" rtl="0" algn="just">
              <a:lnSpc>
                <a:spcPct val="115000"/>
              </a:lnSpc>
              <a:spcBef>
                <a:spcPts val="600"/>
              </a:spcBef>
              <a:spcAft>
                <a:spcPts val="0"/>
              </a:spcAft>
              <a:buClr>
                <a:srgbClr val="1F1F1F"/>
              </a:buClr>
              <a:buSzPts val="1600"/>
              <a:buFont typeface="Roboto"/>
              <a:buAutoNum type="arabicPeriod"/>
            </a:pPr>
            <a:r>
              <a:rPr b="1" i="0" lang="en-US" sz="1600" u="none" cap="none" strike="noStrike">
                <a:solidFill>
                  <a:srgbClr val="1F1F1F"/>
                </a:solidFill>
                <a:highlight>
                  <a:srgbClr val="FFFFFF"/>
                </a:highlight>
                <a:latin typeface="Roboto"/>
                <a:ea typeface="Roboto"/>
                <a:cs typeface="Roboto"/>
                <a:sym typeface="Roboto"/>
              </a:rPr>
              <a:t>Ingestion &amp; Authentication:</a:t>
            </a:r>
            <a:r>
              <a:rPr b="0" i="0" lang="en-US" sz="1600" u="none" cap="none" strike="noStrike">
                <a:solidFill>
                  <a:srgbClr val="1F1F1F"/>
                </a:solidFill>
                <a:highlight>
                  <a:srgbClr val="FFFFFF"/>
                </a:highlight>
                <a:latin typeface="Roboto"/>
                <a:ea typeface="Roboto"/>
                <a:cs typeface="Roboto"/>
                <a:sym typeface="Roboto"/>
              </a:rPr>
              <a:t> Secure onboarding via Clerk or Firebase Auth where citizen inputs undergo multimedia verification.</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AutoNum type="arabicPeriod"/>
            </a:pPr>
            <a:r>
              <a:rPr b="1" i="0" lang="en-US" sz="1600" u="none" cap="none" strike="noStrike">
                <a:solidFill>
                  <a:srgbClr val="1F1F1F"/>
                </a:solidFill>
                <a:highlight>
                  <a:srgbClr val="FFFFFF"/>
                </a:highlight>
                <a:latin typeface="Roboto"/>
                <a:ea typeface="Roboto"/>
                <a:cs typeface="Roboto"/>
                <a:sym typeface="Roboto"/>
              </a:rPr>
              <a:t>Orchestration Middleware:</a:t>
            </a:r>
            <a:r>
              <a:rPr b="0" i="0" lang="en-US" sz="1600" u="none" cap="none" strike="noStrike">
                <a:solidFill>
                  <a:srgbClr val="1F1F1F"/>
                </a:solidFill>
                <a:highlight>
                  <a:srgbClr val="FFFFFF"/>
                </a:highlight>
                <a:latin typeface="Roboto"/>
                <a:ea typeface="Roboto"/>
                <a:cs typeface="Roboto"/>
                <a:sym typeface="Roboto"/>
              </a:rPr>
              <a:t> Node.js acts as an interoperability bus, normalizing conflicting data formats from external departmental systems.</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AutoNum type="arabicPeriod"/>
            </a:pPr>
            <a:r>
              <a:rPr b="1" i="0" lang="en-US" sz="1600" u="none" cap="none" strike="noStrike">
                <a:solidFill>
                  <a:srgbClr val="1F1F1F"/>
                </a:solidFill>
                <a:highlight>
                  <a:srgbClr val="FFFFFF"/>
                </a:highlight>
                <a:latin typeface="Roboto"/>
                <a:ea typeface="Roboto"/>
                <a:cs typeface="Roboto"/>
                <a:sym typeface="Roboto"/>
              </a:rPr>
              <a:t>Intelligent Automation:</a:t>
            </a:r>
            <a:r>
              <a:rPr b="0" i="0" lang="en-US" sz="1600" u="none" cap="none" strike="noStrike">
                <a:solidFill>
                  <a:srgbClr val="1F1F1F"/>
                </a:solidFill>
                <a:highlight>
                  <a:srgbClr val="FFFFFF"/>
                </a:highlight>
                <a:latin typeface="Roboto"/>
                <a:ea typeface="Roboto"/>
                <a:cs typeface="Roboto"/>
                <a:sym typeface="Roboto"/>
              </a:rPr>
              <a:t> TensorFlow.js handles classification, matching issues directly to municipal queues while Mapbox correlates coordinates against administrative jurisdictions.</a:t>
            </a:r>
            <a:endParaRPr b="1" i="0" sz="1600" u="none" cap="none" strike="noStrike">
              <a:solidFill>
                <a:srgbClr val="1F1F1F"/>
              </a:solidFill>
              <a:highlight>
                <a:srgbClr val="FFFFFF"/>
              </a:highlight>
              <a:latin typeface="Roboto"/>
              <a:ea typeface="Roboto"/>
              <a:cs typeface="Roboto"/>
              <a:sym typeface="Roboto"/>
            </a:endParaRPr>
          </a:p>
        </p:txBody>
      </p:sp>
      <p:sp>
        <p:nvSpPr>
          <p:cNvPr id="120" name="Google Shape;120;p3"/>
          <p:cNvSpPr txBox="1"/>
          <p:nvPr>
            <p:ph idx="12" type="sldNum"/>
          </p:nvPr>
        </p:nvSpPr>
        <p:spPr>
          <a:xfrm>
            <a:off x="8737600" y="6437303"/>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US">
                <a:solidFill>
                  <a:schemeClr val="lt1"/>
                </a:solidFill>
              </a:rPr>
              <a:t>‹#›</a:t>
            </a:fld>
            <a:endParaRPr b="1">
              <a:solidFill>
                <a:schemeClr val="lt1"/>
              </a:solidFill>
            </a:endParaRPr>
          </a:p>
        </p:txBody>
      </p:sp>
      <p:sp>
        <p:nvSpPr>
          <p:cNvPr id="121" name="Google Shape;121;p3"/>
          <p:cNvSpPr txBox="1"/>
          <p:nvPr>
            <p:ph idx="12" type="sldNum"/>
          </p:nvPr>
        </p:nvSpPr>
        <p:spPr>
          <a:xfrm>
            <a:off x="7086775" y="1157203"/>
            <a:ext cx="3909000" cy="714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SzPts val="1200"/>
              <a:buNone/>
            </a:pPr>
            <a:r>
              <a:rPr b="1" lang="en-US" sz="1800">
                <a:solidFill>
                  <a:srgbClr val="1F1F1F"/>
                </a:solidFill>
                <a:highlight>
                  <a:srgbClr val="FFFFFF"/>
                </a:highlight>
                <a:latin typeface="Roboto"/>
                <a:ea typeface="Roboto"/>
                <a:cs typeface="Roboto"/>
                <a:sym typeface="Roboto"/>
              </a:rPr>
              <a:t>Methodology and Process for Implementation:</a:t>
            </a:r>
            <a:endParaRPr b="1" sz="1800">
              <a:solidFill>
                <a:srgbClr val="1F1F1F"/>
              </a:solidFill>
              <a:highlight>
                <a:srgbClr val="FFFFFF"/>
              </a:highlight>
              <a:latin typeface="Roboto"/>
              <a:ea typeface="Roboto"/>
              <a:cs typeface="Roboto"/>
              <a:sym typeface="Roboto"/>
            </a:endParaRPr>
          </a:p>
        </p:txBody>
      </p:sp>
      <p:sp>
        <p:nvSpPr>
          <p:cNvPr id="122" name="Google Shape;122;p3"/>
          <p:cNvSpPr/>
          <p:nvPr/>
        </p:nvSpPr>
        <p:spPr>
          <a:xfrm>
            <a:off x="4630425" y="1872103"/>
            <a:ext cx="1790040" cy="1274220"/>
          </a:xfrm>
          <a:prstGeom prst="cloud">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sng" cap="none" strike="noStrike">
                <a:solidFill>
                  <a:schemeClr val="dk1"/>
                </a:solidFill>
                <a:latin typeface="Arial"/>
                <a:ea typeface="Arial"/>
                <a:cs typeface="Arial"/>
                <a:sym typeface="Arial"/>
                <a:hlinkClick r:id="rId6">
                  <a:extLst>
                    <a:ext uri="{A12FA001-AC4F-418D-AE19-62706E023703}">
                      <ahyp:hlinkClr val="tx"/>
                    </a:ext>
                  </a:extLst>
                </a:hlinkClick>
              </a:rPr>
              <a:t>Github</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p:nvPr/>
        </p:nvSpPr>
        <p:spPr>
          <a:xfrm>
            <a:off x="0" y="6423300"/>
            <a:ext cx="12192000" cy="434700"/>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29" name="Google Shape;129;p4"/>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3600">
                <a:latin typeface="Times New Roman"/>
                <a:ea typeface="Times New Roman"/>
                <a:cs typeface="Times New Roman"/>
                <a:sym typeface="Times New Roman"/>
              </a:rPr>
              <a:t>FEASIBILITY AND VIABILITY</a:t>
            </a:r>
            <a:endParaRPr/>
          </a:p>
        </p:txBody>
      </p:sp>
      <p:sp>
        <p:nvSpPr>
          <p:cNvPr id="130" name="Google Shape;130;p4"/>
          <p:cNvSpPr txBox="1"/>
          <p:nvPr/>
        </p:nvSpPr>
        <p:spPr>
          <a:xfrm>
            <a:off x="211375" y="1095375"/>
            <a:ext cx="6799500" cy="5413500"/>
          </a:xfrm>
          <a:prstGeom prst="rect">
            <a:avLst/>
          </a:prstGeom>
          <a:noFill/>
          <a:ln>
            <a:noFill/>
          </a:ln>
        </p:spPr>
        <p:txBody>
          <a:bodyPr anchorCtr="0" anchor="t" bIns="45700" lIns="91425" spcFirstLastPara="1" rIns="91425" wrap="square" tIns="45700">
            <a:spAutoFit/>
          </a:bodyPr>
          <a:lstStyle/>
          <a:p>
            <a:pPr indent="-161925" lvl="0" marL="171450" marR="0" rtl="0" algn="just">
              <a:lnSpc>
                <a:spcPct val="100000"/>
              </a:lnSpc>
              <a:spcBef>
                <a:spcPts val="0"/>
              </a:spcBef>
              <a:spcAft>
                <a:spcPts val="0"/>
              </a:spcAft>
              <a:buClr>
                <a:srgbClr val="000000"/>
              </a:buClr>
              <a:buSzPts val="1800"/>
              <a:buFont typeface="Arial"/>
              <a:buNone/>
            </a:pPr>
            <a:r>
              <a:rPr b="1" i="0" lang="en-US" sz="1800" u="none" cap="none" strike="noStrike">
                <a:solidFill>
                  <a:srgbClr val="1F1F1F"/>
                </a:solidFill>
                <a:highlight>
                  <a:srgbClr val="FFFFFF"/>
                </a:highlight>
                <a:latin typeface="Roboto"/>
                <a:ea typeface="Roboto"/>
                <a:cs typeface="Roboto"/>
                <a:sym typeface="Roboto"/>
              </a:rPr>
              <a:t>Feasibility of the Idea:</a:t>
            </a:r>
            <a:endParaRPr b="1" i="0" sz="1800" u="none" cap="none" strike="noStrike">
              <a:solidFill>
                <a:srgbClr val="1F1F1F"/>
              </a:solidFill>
              <a:highlight>
                <a:srgbClr val="FFFFFF"/>
              </a:highlight>
              <a:latin typeface="Roboto"/>
              <a:ea typeface="Roboto"/>
              <a:cs typeface="Roboto"/>
              <a:sym typeface="Roboto"/>
            </a:endParaRPr>
          </a:p>
          <a:p>
            <a:pPr indent="-330200" lvl="0" marL="457200" marR="0" rtl="0" algn="just">
              <a:lnSpc>
                <a:spcPct val="115000"/>
              </a:lnSpc>
              <a:spcBef>
                <a:spcPts val="6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Proven Technology:</a:t>
            </a:r>
            <a:r>
              <a:rPr b="0" i="0" lang="en-US" sz="1600" u="none" cap="none" strike="noStrike">
                <a:solidFill>
                  <a:srgbClr val="1F1F1F"/>
                </a:solidFill>
                <a:highlight>
                  <a:srgbClr val="FFFFFF"/>
                </a:highlight>
                <a:latin typeface="Roboto"/>
                <a:ea typeface="Roboto"/>
                <a:cs typeface="Roboto"/>
                <a:sym typeface="Roboto"/>
              </a:rPr>
              <a:t> Similar applications already function reliably at scale using standard full-stack web and map services.</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Low Setup Cost:</a:t>
            </a:r>
            <a:r>
              <a:rPr b="0" i="0" lang="en-US" sz="1600" u="none" cap="none" strike="noStrike">
                <a:solidFill>
                  <a:srgbClr val="1F1F1F"/>
                </a:solidFill>
                <a:highlight>
                  <a:srgbClr val="FFFFFF"/>
                </a:highlight>
                <a:latin typeface="Roboto"/>
                <a:ea typeface="Roboto"/>
                <a:cs typeface="Roboto"/>
                <a:sym typeface="Roboto"/>
              </a:rPr>
              <a:t> System development and platform maintenance are highly affordable due to open-source frameworks and cloud free tiers.</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Government Need:</a:t>
            </a:r>
            <a:r>
              <a:rPr b="0" i="0" lang="en-US" sz="1600" u="none" cap="none" strike="noStrike">
                <a:solidFill>
                  <a:srgbClr val="1F1F1F"/>
                </a:solidFill>
                <a:highlight>
                  <a:srgbClr val="FFFFFF"/>
                </a:highlight>
                <a:latin typeface="Roboto"/>
                <a:ea typeface="Roboto"/>
                <a:cs typeface="Roboto"/>
                <a:sym typeface="Roboto"/>
              </a:rPr>
              <a:t> Public administrative agencies actively resolve millions of digital complaints and require better cross-department orchestration.</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High User Interest:</a:t>
            </a:r>
            <a:r>
              <a:rPr b="0" i="0" lang="en-US" sz="1600" u="none" cap="none" strike="noStrike">
                <a:solidFill>
                  <a:srgbClr val="1F1F1F"/>
                </a:solidFill>
                <a:highlight>
                  <a:srgbClr val="FFFFFF"/>
                </a:highlight>
                <a:latin typeface="Roboto"/>
                <a:ea typeface="Roboto"/>
                <a:cs typeface="Roboto"/>
                <a:sym typeface="Roboto"/>
              </a:rPr>
              <a:t> Citizens demand these unified services for single-entry convenience, transparency, and tracking.</a:t>
            </a:r>
            <a:endParaRPr b="0" i="0" sz="1600" u="none" cap="none" strike="noStrike">
              <a:solidFill>
                <a:srgbClr val="1F1F1F"/>
              </a:solidFill>
              <a:highlight>
                <a:srgbClr val="FFFFFF"/>
              </a:highlight>
              <a:latin typeface="Roboto"/>
              <a:ea typeface="Roboto"/>
              <a:cs typeface="Roboto"/>
              <a:sym typeface="Roboto"/>
            </a:endParaRPr>
          </a:p>
          <a:p>
            <a:pPr indent="0" lvl="0" marL="0" marR="0" rtl="0" algn="just">
              <a:lnSpc>
                <a:spcPct val="115000"/>
              </a:lnSpc>
              <a:spcBef>
                <a:spcPts val="600"/>
              </a:spcBef>
              <a:spcAft>
                <a:spcPts val="0"/>
              </a:spcAft>
              <a:buClr>
                <a:srgbClr val="000000"/>
              </a:buClr>
              <a:buSzPts val="1800"/>
              <a:buFont typeface="Arial"/>
              <a:buNone/>
            </a:pPr>
            <a:r>
              <a:rPr b="1" i="0" lang="en-US" sz="1800" u="none" cap="none" strike="noStrike">
                <a:solidFill>
                  <a:srgbClr val="1F1F1F"/>
                </a:solidFill>
                <a:highlight>
                  <a:srgbClr val="FFFFFF"/>
                </a:highlight>
                <a:latin typeface="Roboto"/>
                <a:ea typeface="Roboto"/>
                <a:cs typeface="Roboto"/>
                <a:sym typeface="Roboto"/>
              </a:rPr>
              <a:t>Technical Resiliency Plan:</a:t>
            </a:r>
            <a:endParaRPr b="1" i="0" sz="1800" u="none" cap="none" strike="noStrike">
              <a:solidFill>
                <a:srgbClr val="1F1F1F"/>
              </a:solidFill>
              <a:highlight>
                <a:srgbClr val="FFFFFF"/>
              </a:highlight>
              <a:latin typeface="Roboto"/>
              <a:ea typeface="Roboto"/>
              <a:cs typeface="Roboto"/>
              <a:sym typeface="Roboto"/>
            </a:endParaRPr>
          </a:p>
          <a:p>
            <a:pPr indent="-330200" lvl="0" marL="457200" marR="0" rtl="0" algn="just">
              <a:lnSpc>
                <a:spcPct val="115000"/>
              </a:lnSpc>
              <a:spcBef>
                <a:spcPts val="6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Fallback Routing:</a:t>
            </a:r>
            <a:r>
              <a:rPr b="0" i="0" lang="en-US" sz="1600" u="none" cap="none" strike="noStrike">
                <a:solidFill>
                  <a:srgbClr val="1F1F1F"/>
                </a:solidFill>
                <a:highlight>
                  <a:srgbClr val="FFFFFF"/>
                </a:highlight>
                <a:latin typeface="Roboto"/>
                <a:ea typeface="Roboto"/>
                <a:cs typeface="Roboto"/>
                <a:sym typeface="Roboto"/>
              </a:rPr>
              <a:t> If an external departmental system API becomes unavailable, incoming request payloads are safely queued and retried automatically to preserve operational data.</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15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Administrative Controls:</a:t>
            </a:r>
            <a:r>
              <a:rPr b="0" i="0" lang="en-US" sz="1600" u="none" cap="none" strike="noStrike">
                <a:solidFill>
                  <a:srgbClr val="1F1F1F"/>
                </a:solidFill>
                <a:highlight>
                  <a:srgbClr val="FFFFFF"/>
                </a:highlight>
                <a:latin typeface="Roboto"/>
                <a:ea typeface="Roboto"/>
                <a:cs typeface="Roboto"/>
                <a:sym typeface="Roboto"/>
              </a:rPr>
              <a:t> Keeps processing safe by maintaining explicit human verification layers where department administrators can override low-confidence AI routing parameters.</a:t>
            </a:r>
            <a:endParaRPr b="0" i="0" sz="1600" u="none" cap="none" strike="noStrike">
              <a:solidFill>
                <a:srgbClr val="1F1F1F"/>
              </a:solidFill>
              <a:highlight>
                <a:srgbClr val="FFFFFF"/>
              </a:highlight>
              <a:latin typeface="Roboto"/>
              <a:ea typeface="Roboto"/>
              <a:cs typeface="Roboto"/>
              <a:sym typeface="Roboto"/>
            </a:endParaRPr>
          </a:p>
        </p:txBody>
      </p:sp>
      <p:sp>
        <p:nvSpPr>
          <p:cNvPr id="131" name="Google Shape;131;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32" name="Google Shape;132;p4"/>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400"/>
              <a:buFont typeface="Arial"/>
              <a:buNone/>
            </a:pPr>
            <a:r>
              <a:rPr lang="en-US">
                <a:solidFill>
                  <a:schemeClr val="lt1"/>
                </a:solidFill>
              </a:rPr>
              <a:t>@TEKATHON-3.0- Template</a:t>
            </a:r>
            <a:endParaRPr>
              <a:solidFill>
                <a:srgbClr val="FFFFFF"/>
              </a:solidFill>
            </a:endParaRPr>
          </a:p>
        </p:txBody>
      </p:sp>
      <p:sp>
        <p:nvSpPr>
          <p:cNvPr id="133" name="Google Shape;133;p4"/>
          <p:cNvSpPr/>
          <p:nvPr/>
        </p:nvSpPr>
        <p:spPr>
          <a:xfrm>
            <a:off x="0" y="6423152"/>
            <a:ext cx="12192000" cy="434700"/>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pic>
        <p:nvPicPr>
          <p:cNvPr id="134" name="Google Shape;134;p4" title="crazy.png"/>
          <p:cNvPicPr preferRelativeResize="0"/>
          <p:nvPr/>
        </p:nvPicPr>
        <p:blipFill rotWithShape="1">
          <a:blip r:embed="rId3">
            <a:alphaModFix/>
          </a:blip>
          <a:srcRect b="0" l="0" r="0" t="0"/>
          <a:stretch/>
        </p:blipFill>
        <p:spPr>
          <a:xfrm>
            <a:off x="10701350" y="11235"/>
            <a:ext cx="1167750" cy="1025275"/>
          </a:xfrm>
          <a:prstGeom prst="rect">
            <a:avLst/>
          </a:prstGeom>
          <a:noFill/>
          <a:ln>
            <a:noFill/>
          </a:ln>
        </p:spPr>
      </p:pic>
      <p:pic>
        <p:nvPicPr>
          <p:cNvPr id="135" name="Google Shape;135;p4" title="SIH-Logo.png"/>
          <p:cNvPicPr preferRelativeResize="0"/>
          <p:nvPr/>
        </p:nvPicPr>
        <p:blipFill rotWithShape="1">
          <a:blip r:embed="rId4">
            <a:alphaModFix/>
          </a:blip>
          <a:srcRect b="0" l="0" r="0" t="0"/>
          <a:stretch/>
        </p:blipFill>
        <p:spPr>
          <a:xfrm>
            <a:off x="211380" y="85716"/>
            <a:ext cx="1724025" cy="876300"/>
          </a:xfrm>
          <a:prstGeom prst="rect">
            <a:avLst/>
          </a:prstGeom>
          <a:noFill/>
          <a:ln>
            <a:noFill/>
          </a:ln>
        </p:spPr>
      </p:pic>
      <p:pic>
        <p:nvPicPr>
          <p:cNvPr id="136" name="Google Shape;136;p4"/>
          <p:cNvPicPr preferRelativeResize="0"/>
          <p:nvPr/>
        </p:nvPicPr>
        <p:blipFill rotWithShape="1">
          <a:blip r:embed="rId5">
            <a:alphaModFix/>
          </a:blip>
          <a:srcRect b="0" l="0" r="0" t="0"/>
          <a:stretch/>
        </p:blipFill>
        <p:spPr>
          <a:xfrm>
            <a:off x="7010875" y="1540299"/>
            <a:ext cx="4858225" cy="4693025"/>
          </a:xfrm>
          <a:prstGeom prst="rect">
            <a:avLst/>
          </a:prstGeom>
          <a:noFill/>
          <a:ln>
            <a:noFill/>
          </a:ln>
        </p:spPr>
      </p:pic>
      <p:sp>
        <p:nvSpPr>
          <p:cNvPr id="137" name="Google Shape;137;p4"/>
          <p:cNvSpPr txBox="1"/>
          <p:nvPr>
            <p:ph idx="12" type="sldNum"/>
          </p:nvPr>
        </p:nvSpPr>
        <p:spPr>
          <a:xfrm>
            <a:off x="8737600" y="6437303"/>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US">
                <a:solidFill>
                  <a:schemeClr val="lt1"/>
                </a:solidFill>
              </a:rPr>
              <a:t>‹#›</a:t>
            </a:fld>
            <a:endParaRPr b="1">
              <a:solidFill>
                <a:schemeClr val="lt1"/>
              </a:solidFill>
            </a:endParaRPr>
          </a:p>
        </p:txBody>
      </p:sp>
      <p:sp>
        <p:nvSpPr>
          <p:cNvPr id="138" name="Google Shape;138;p4"/>
          <p:cNvSpPr txBox="1"/>
          <p:nvPr>
            <p:ph idx="12" type="sldNum"/>
          </p:nvPr>
        </p:nvSpPr>
        <p:spPr>
          <a:xfrm>
            <a:off x="7010875" y="1135289"/>
            <a:ext cx="3909000" cy="3651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SzPts val="1200"/>
              <a:buNone/>
            </a:pPr>
            <a:r>
              <a:rPr b="1" lang="en-US" sz="1800">
                <a:solidFill>
                  <a:srgbClr val="1F1F1F"/>
                </a:solidFill>
                <a:highlight>
                  <a:srgbClr val="FFFFFF"/>
                </a:highlight>
                <a:latin typeface="Roboto"/>
                <a:ea typeface="Roboto"/>
                <a:cs typeface="Roboto"/>
                <a:sym typeface="Roboto"/>
              </a:rPr>
              <a:t>Risk Mitigation Architecture:</a:t>
            </a:r>
            <a:endParaRPr b="1" sz="1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45" name="Google Shape;145;p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3600">
                <a:latin typeface="Times New Roman"/>
                <a:ea typeface="Times New Roman"/>
                <a:cs typeface="Times New Roman"/>
                <a:sym typeface="Times New Roman"/>
              </a:rPr>
              <a:t>IMPACT AND BENEFITS</a:t>
            </a:r>
            <a:endParaRPr/>
          </a:p>
        </p:txBody>
      </p:sp>
      <p:sp>
        <p:nvSpPr>
          <p:cNvPr id="146" name="Google Shape;146;p5"/>
          <p:cNvSpPr txBox="1"/>
          <p:nvPr/>
        </p:nvSpPr>
        <p:spPr>
          <a:xfrm>
            <a:off x="211375" y="1111000"/>
            <a:ext cx="5884500" cy="3453000"/>
          </a:xfrm>
          <a:prstGeom prst="rect">
            <a:avLst/>
          </a:prstGeom>
          <a:noFill/>
          <a:ln>
            <a:noFill/>
          </a:ln>
        </p:spPr>
        <p:txBody>
          <a:bodyPr anchorCtr="0" anchor="t" bIns="45700" lIns="91425" spcFirstLastPara="1" rIns="91425" wrap="square" tIns="45700">
            <a:spAutoFit/>
          </a:bodyPr>
          <a:lstStyle/>
          <a:p>
            <a:pPr indent="-165100" lvl="0" marL="342900" marR="0" rtl="0" algn="just">
              <a:lnSpc>
                <a:spcPct val="100000"/>
              </a:lnSpc>
              <a:spcBef>
                <a:spcPts val="0"/>
              </a:spcBef>
              <a:spcAft>
                <a:spcPts val="0"/>
              </a:spcAft>
              <a:buClr>
                <a:srgbClr val="000000"/>
              </a:buClr>
              <a:buSzPts val="1800"/>
              <a:buFont typeface="Arial"/>
              <a:buNone/>
            </a:pPr>
            <a:r>
              <a:rPr b="1" i="0" lang="en-US" sz="1800" u="none" cap="none" strike="noStrike">
                <a:solidFill>
                  <a:srgbClr val="1F1F1F"/>
                </a:solidFill>
                <a:highlight>
                  <a:srgbClr val="FFFFFF"/>
                </a:highlight>
                <a:latin typeface="Roboto"/>
                <a:ea typeface="Roboto"/>
                <a:cs typeface="Roboto"/>
                <a:sym typeface="Roboto"/>
              </a:rPr>
              <a:t>Potential Impact on the Target Audience:</a:t>
            </a:r>
            <a:endParaRPr b="1" i="0" sz="1800" u="none" cap="none" strike="noStrike">
              <a:solidFill>
                <a:srgbClr val="1F1F1F"/>
              </a:solidFill>
              <a:highlight>
                <a:srgbClr val="FFFFFF"/>
              </a:highlight>
              <a:latin typeface="Roboto"/>
              <a:ea typeface="Roboto"/>
              <a:cs typeface="Roboto"/>
              <a:sym typeface="Roboto"/>
            </a:endParaRPr>
          </a:p>
          <a:p>
            <a:pPr indent="-330200" lvl="0" marL="457200" marR="0" rtl="0" algn="just">
              <a:lnSpc>
                <a:spcPct val="100000"/>
              </a:lnSpc>
              <a:spcBef>
                <a:spcPts val="10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Empowers Citizens:</a:t>
            </a:r>
            <a:r>
              <a:rPr b="0" i="0" lang="en-US" sz="1600" u="none" cap="none" strike="noStrike">
                <a:solidFill>
                  <a:srgbClr val="1F1F1F"/>
                </a:solidFill>
                <a:highlight>
                  <a:srgbClr val="FFFFFF"/>
                </a:highlight>
                <a:latin typeface="Roboto"/>
                <a:ea typeface="Roboto"/>
                <a:cs typeface="Roboto"/>
                <a:sym typeface="Roboto"/>
              </a:rPr>
              <a:t> Provides a single, unified entry point for multiple services, eliminating confusion about departmental ownership.</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00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Increases Transparency:</a:t>
            </a:r>
            <a:r>
              <a:rPr b="0" i="0" lang="en-US" sz="1600" u="none" cap="none" strike="noStrike">
                <a:solidFill>
                  <a:srgbClr val="1F1F1F"/>
                </a:solidFill>
                <a:highlight>
                  <a:srgbClr val="FFFFFF"/>
                </a:highlight>
                <a:latin typeface="Roboto"/>
                <a:ea typeface="Roboto"/>
                <a:cs typeface="Roboto"/>
                <a:sym typeface="Roboto"/>
              </a:rPr>
              <a:t> Enables real-time progress monitoring from submission to final resolution using a unique tracking identity.</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00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Motivates Participation:</a:t>
            </a:r>
            <a:r>
              <a:rPr b="0" i="0" lang="en-US" sz="1600" u="none" cap="none" strike="noStrike">
                <a:solidFill>
                  <a:srgbClr val="1F1F1F"/>
                </a:solidFill>
                <a:highlight>
                  <a:srgbClr val="FFFFFF"/>
                </a:highlight>
                <a:latin typeface="Roboto"/>
                <a:ea typeface="Roboto"/>
                <a:cs typeface="Roboto"/>
                <a:sym typeface="Roboto"/>
              </a:rPr>
              <a:t> Drives citizen engagement through immediate tracking feedback, notifications, and verification mechanisms.</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00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Reduces Administrative Friction:</a:t>
            </a:r>
            <a:r>
              <a:rPr b="0" i="0" lang="en-US" sz="1600" u="none" cap="none" strike="noStrike">
                <a:solidFill>
                  <a:srgbClr val="1F1F1F"/>
                </a:solidFill>
                <a:highlight>
                  <a:srgbClr val="FFFFFF"/>
                </a:highlight>
                <a:latin typeface="Roboto"/>
                <a:ea typeface="Roboto"/>
                <a:cs typeface="Roboto"/>
                <a:sym typeface="Roboto"/>
              </a:rPr>
              <a:t> Eradicates the need to submit duplicate records or manually track across separate departmental systems.</a:t>
            </a:r>
            <a:endParaRPr b="0" i="0" sz="1600" u="none" cap="none" strike="noStrike">
              <a:solidFill>
                <a:srgbClr val="1F1F1F"/>
              </a:solidFill>
              <a:highlight>
                <a:srgbClr val="FFFFFF"/>
              </a:highlight>
              <a:latin typeface="Roboto"/>
              <a:ea typeface="Roboto"/>
              <a:cs typeface="Roboto"/>
              <a:sym typeface="Roboto"/>
            </a:endParaRPr>
          </a:p>
        </p:txBody>
      </p:sp>
      <p:sp>
        <p:nvSpPr>
          <p:cNvPr id="147" name="Google Shape;147;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48" name="Google Shape;148;p5"/>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400"/>
              <a:buFont typeface="Arial"/>
              <a:buNone/>
            </a:pPr>
            <a:r>
              <a:rPr lang="en-US">
                <a:solidFill>
                  <a:schemeClr val="lt1"/>
                </a:solidFill>
              </a:rPr>
              <a:t>@TEKATHON-3.0- Template</a:t>
            </a:r>
            <a:endParaRPr>
              <a:solidFill>
                <a:srgbClr val="FFFFFF"/>
              </a:solidFill>
            </a:endParaRPr>
          </a:p>
        </p:txBody>
      </p:sp>
      <p:sp>
        <p:nvSpPr>
          <p:cNvPr id="149" name="Google Shape;149;p5"/>
          <p:cNvSpPr/>
          <p:nvPr/>
        </p:nvSpPr>
        <p:spPr>
          <a:xfrm>
            <a:off x="0" y="6354762"/>
            <a:ext cx="12192000" cy="503100"/>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pic>
        <p:nvPicPr>
          <p:cNvPr id="150" name="Google Shape;150;p5" title="crazy.png"/>
          <p:cNvPicPr preferRelativeResize="0"/>
          <p:nvPr/>
        </p:nvPicPr>
        <p:blipFill rotWithShape="1">
          <a:blip r:embed="rId3">
            <a:alphaModFix/>
          </a:blip>
          <a:srcRect b="0" l="0" r="0" t="0"/>
          <a:stretch/>
        </p:blipFill>
        <p:spPr>
          <a:xfrm>
            <a:off x="10701350" y="85723"/>
            <a:ext cx="1167750" cy="1025275"/>
          </a:xfrm>
          <a:prstGeom prst="rect">
            <a:avLst/>
          </a:prstGeom>
          <a:noFill/>
          <a:ln>
            <a:noFill/>
          </a:ln>
        </p:spPr>
      </p:pic>
      <p:pic>
        <p:nvPicPr>
          <p:cNvPr id="151" name="Google Shape;151;p5" title="SIH-Logo.png"/>
          <p:cNvPicPr preferRelativeResize="0"/>
          <p:nvPr/>
        </p:nvPicPr>
        <p:blipFill rotWithShape="1">
          <a:blip r:embed="rId4">
            <a:alphaModFix/>
          </a:blip>
          <a:srcRect b="0" l="0" r="0" t="0"/>
          <a:stretch/>
        </p:blipFill>
        <p:spPr>
          <a:xfrm>
            <a:off x="211380" y="85716"/>
            <a:ext cx="1724025" cy="876300"/>
          </a:xfrm>
          <a:prstGeom prst="rect">
            <a:avLst/>
          </a:prstGeom>
          <a:noFill/>
          <a:ln>
            <a:noFill/>
          </a:ln>
        </p:spPr>
      </p:pic>
      <p:sp>
        <p:nvSpPr>
          <p:cNvPr id="152" name="Google Shape;152;p5"/>
          <p:cNvSpPr txBox="1"/>
          <p:nvPr>
            <p:ph idx="12" type="sldNum"/>
          </p:nvPr>
        </p:nvSpPr>
        <p:spPr>
          <a:xfrm>
            <a:off x="8737600" y="6437303"/>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US">
                <a:solidFill>
                  <a:schemeClr val="lt1"/>
                </a:solidFill>
              </a:rPr>
              <a:t>‹#›</a:t>
            </a:fld>
            <a:endParaRPr b="1">
              <a:solidFill>
                <a:schemeClr val="lt1"/>
              </a:solidFill>
            </a:endParaRPr>
          </a:p>
        </p:txBody>
      </p:sp>
      <p:sp>
        <p:nvSpPr>
          <p:cNvPr id="153" name="Google Shape;153;p5"/>
          <p:cNvSpPr txBox="1"/>
          <p:nvPr/>
        </p:nvSpPr>
        <p:spPr>
          <a:xfrm>
            <a:off x="6096000" y="1110999"/>
            <a:ext cx="5773200" cy="3443100"/>
          </a:xfrm>
          <a:prstGeom prst="rect">
            <a:avLst/>
          </a:prstGeom>
          <a:noFill/>
          <a:ln>
            <a:noFill/>
          </a:ln>
        </p:spPr>
        <p:txBody>
          <a:bodyPr anchorCtr="0" anchor="t" bIns="45700" lIns="91425" spcFirstLastPara="1" rIns="91425" wrap="square" tIns="45700">
            <a:spAutoFit/>
          </a:bodyPr>
          <a:lstStyle/>
          <a:p>
            <a:pPr indent="-228600" lvl="0" marL="457200" marR="0" rtl="0" algn="l">
              <a:lnSpc>
                <a:spcPct val="115000"/>
              </a:lnSpc>
              <a:spcBef>
                <a:spcPts val="600"/>
              </a:spcBef>
              <a:spcAft>
                <a:spcPts val="0"/>
              </a:spcAft>
              <a:buClr>
                <a:srgbClr val="000000"/>
              </a:buClr>
              <a:buSzPts val="1800"/>
              <a:buFont typeface="Arial"/>
              <a:buNone/>
            </a:pPr>
            <a:r>
              <a:rPr b="1" i="0" lang="en-US" sz="1800" u="none" cap="none" strike="noStrike">
                <a:solidFill>
                  <a:srgbClr val="1F1F1F"/>
                </a:solidFill>
                <a:highlight>
                  <a:srgbClr val="FFFFFF"/>
                </a:highlight>
                <a:latin typeface="Roboto"/>
                <a:ea typeface="Roboto"/>
                <a:cs typeface="Roboto"/>
                <a:sym typeface="Roboto"/>
              </a:rPr>
              <a:t>Benefits of the Solution:</a:t>
            </a:r>
            <a:endParaRPr b="1" i="0" sz="1800" u="none" cap="none" strike="noStrike">
              <a:solidFill>
                <a:srgbClr val="1F1F1F"/>
              </a:solidFill>
              <a:highlight>
                <a:srgbClr val="FFFFFF"/>
              </a:highlight>
              <a:latin typeface="Roboto"/>
              <a:ea typeface="Roboto"/>
              <a:cs typeface="Roboto"/>
              <a:sym typeface="Roboto"/>
            </a:endParaRPr>
          </a:p>
          <a:p>
            <a:pPr indent="-330200" lvl="0" marL="457200" marR="0" rtl="0" algn="just">
              <a:lnSpc>
                <a:spcPct val="100000"/>
              </a:lnSpc>
              <a:spcBef>
                <a:spcPts val="60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Social Impact:</a:t>
            </a:r>
            <a:r>
              <a:rPr b="0" i="0" lang="en-US" sz="1600" u="none" cap="none" strike="noStrike">
                <a:solidFill>
                  <a:srgbClr val="1F1F1F"/>
                </a:solidFill>
                <a:highlight>
                  <a:srgbClr val="FFFFFF"/>
                </a:highlight>
                <a:latin typeface="Roboto"/>
                <a:ea typeface="Roboto"/>
                <a:cs typeface="Roboto"/>
                <a:sym typeface="Roboto"/>
              </a:rPr>
              <a:t> Democratizes public service access, speeds up grievance resolutions, and bridges the communication gap between citizens and authorities.</a:t>
            </a:r>
            <a:endParaRPr b="0" i="0" sz="1600" u="none" cap="none" strike="noStrike">
              <a:solidFill>
                <a:srgbClr val="1F1F1F"/>
              </a:solidFill>
              <a:highlight>
                <a:srgbClr val="F0F4F9"/>
              </a:highlight>
              <a:latin typeface="Roboto"/>
              <a:ea typeface="Roboto"/>
              <a:cs typeface="Roboto"/>
              <a:sym typeface="Roboto"/>
            </a:endParaRPr>
          </a:p>
          <a:p>
            <a:pPr indent="-330200" lvl="0" marL="457200" marR="0" rtl="0" algn="just">
              <a:lnSpc>
                <a:spcPct val="100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Economic Efficiency:</a:t>
            </a:r>
            <a:r>
              <a:rPr b="0" i="0" lang="en-US" sz="1600" u="none" cap="none" strike="noStrike">
                <a:solidFill>
                  <a:srgbClr val="1F1F1F"/>
                </a:solidFill>
                <a:highlight>
                  <a:srgbClr val="FFFFFF"/>
                </a:highlight>
                <a:latin typeface="Roboto"/>
                <a:ea typeface="Roboto"/>
                <a:cs typeface="Roboto"/>
                <a:sym typeface="Roboto"/>
              </a:rPr>
              <a:t> Lowers setup and operational costs through cloud infrastructure, reduces duplicated workloads, and identifies recurring infrastructure asset issues to optimize long-term maintenance budgets.</a:t>
            </a:r>
            <a:endParaRPr sz="1600" u="none">
              <a:solidFill>
                <a:srgbClr val="1F1F1F"/>
              </a:solidFill>
              <a:highlight>
                <a:srgbClr val="F0F4F9"/>
              </a:highlight>
              <a:latin typeface="Roboto"/>
              <a:ea typeface="Roboto"/>
              <a:cs typeface="Roboto"/>
              <a:sym typeface="Roboto"/>
            </a:endParaRPr>
          </a:p>
          <a:p>
            <a:pPr indent="-330200" lvl="0" marL="457200" marR="0" rtl="0" algn="just">
              <a:lnSpc>
                <a:spcPct val="100000"/>
              </a:lnSpc>
              <a:spcBef>
                <a:spcPts val="0"/>
              </a:spcBef>
              <a:spcAft>
                <a:spcPts val="0"/>
              </a:spcAft>
              <a:buClr>
                <a:srgbClr val="1F1F1F"/>
              </a:buClr>
              <a:buSzPts val="1600"/>
              <a:buFont typeface="Roboto"/>
              <a:buChar char="●"/>
            </a:pPr>
            <a:r>
              <a:rPr b="1" i="0" lang="en-US" sz="1600" u="none" cap="none" strike="noStrike">
                <a:solidFill>
                  <a:srgbClr val="1F1F1F"/>
                </a:solidFill>
                <a:highlight>
                  <a:srgbClr val="FFFFFF"/>
                </a:highlight>
                <a:latin typeface="Roboto"/>
                <a:ea typeface="Roboto"/>
                <a:cs typeface="Roboto"/>
                <a:sym typeface="Roboto"/>
              </a:rPr>
              <a:t>Environmental &amp; Operational Sustainability:</a:t>
            </a:r>
            <a:r>
              <a:rPr b="0" i="0" lang="en-US" sz="1600" u="none" cap="none" strike="noStrike">
                <a:solidFill>
                  <a:srgbClr val="1F1F1F"/>
                </a:solidFill>
                <a:highlight>
                  <a:srgbClr val="FFFFFF"/>
                </a:highlight>
                <a:latin typeface="Roboto"/>
                <a:ea typeface="Roboto"/>
                <a:cs typeface="Roboto"/>
                <a:sym typeface="Roboto"/>
              </a:rPr>
              <a:t> Leverages geographic data to identify infrastructure problem areas (e.g., water leaks, waste management accumulation), reducing resource wastage and promoting proactive governance.</a:t>
            </a:r>
            <a:endParaRPr b="1" i="0" sz="1600" u="none" cap="none" strike="noStrike">
              <a:solidFill>
                <a:srgbClr val="1F1F1F"/>
              </a:solidFill>
              <a:highlight>
                <a:srgbClr val="FFFFFF"/>
              </a:highlight>
              <a:latin typeface="Roboto"/>
              <a:ea typeface="Roboto"/>
              <a:cs typeface="Roboto"/>
              <a:sym typeface="Roboto"/>
            </a:endParaRPr>
          </a:p>
        </p:txBody>
      </p:sp>
      <p:pic>
        <p:nvPicPr>
          <p:cNvPr id="154" name="Google Shape;154;p5"/>
          <p:cNvPicPr preferRelativeResize="0"/>
          <p:nvPr/>
        </p:nvPicPr>
        <p:blipFill rotWithShape="1">
          <a:blip r:embed="rId5">
            <a:alphaModFix/>
          </a:blip>
          <a:srcRect b="0" l="0" r="0" t="0"/>
          <a:stretch/>
        </p:blipFill>
        <p:spPr>
          <a:xfrm>
            <a:off x="1123825" y="4925230"/>
            <a:ext cx="9944100" cy="1304925"/>
          </a:xfrm>
          <a:prstGeom prst="rect">
            <a:avLst/>
          </a:prstGeom>
          <a:noFill/>
          <a:ln>
            <a:noFill/>
          </a:ln>
        </p:spPr>
      </p:pic>
      <p:sp>
        <p:nvSpPr>
          <p:cNvPr id="155" name="Google Shape;155;p5"/>
          <p:cNvSpPr txBox="1"/>
          <p:nvPr/>
        </p:nvSpPr>
        <p:spPr>
          <a:xfrm>
            <a:off x="322675" y="4506770"/>
            <a:ext cx="577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1200"/>
              </a:spcAft>
              <a:buClr>
                <a:srgbClr val="000000"/>
              </a:buClr>
              <a:buSzPts val="1800"/>
              <a:buFont typeface="Arial"/>
              <a:buNone/>
            </a:pPr>
            <a:r>
              <a:rPr b="1" i="0" lang="en-US" sz="1800" u="none" cap="none" strike="noStrike">
                <a:solidFill>
                  <a:srgbClr val="1F1F1F"/>
                </a:solidFill>
                <a:highlight>
                  <a:srgbClr val="FFFFFF"/>
                </a:highlight>
                <a:latin typeface="Roboto"/>
                <a:ea typeface="Roboto"/>
                <a:cs typeface="Roboto"/>
                <a:sym typeface="Roboto"/>
              </a:rPr>
              <a:t>Socio-Economic &amp; Operational Value Flow:</a:t>
            </a:r>
            <a:endParaRPr b="1" i="0" sz="1800" u="none" cap="none" strike="noStrike">
              <a:solidFill>
                <a:srgbClr val="1F1F1F"/>
              </a:solidFill>
              <a:highlight>
                <a:srgbClr val="FFFFFF"/>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txBox="1"/>
          <p:nvPr>
            <p:ph type="title"/>
          </p:nvPr>
        </p:nvSpPr>
        <p:spPr>
          <a:xfrm>
            <a:off x="763800" y="-27612"/>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3600">
                <a:latin typeface="Times New Roman"/>
                <a:ea typeface="Times New Roman"/>
                <a:cs typeface="Times New Roman"/>
                <a:sym typeface="Times New Roman"/>
              </a:rPr>
              <a:t>RESEARCH  AND REFERENCES</a:t>
            </a:r>
            <a:endParaRPr/>
          </a:p>
        </p:txBody>
      </p:sp>
      <p:sp>
        <p:nvSpPr>
          <p:cNvPr id="162" name="Google Shape;162;p6"/>
          <p:cNvSpPr txBox="1"/>
          <p:nvPr/>
        </p:nvSpPr>
        <p:spPr>
          <a:xfrm>
            <a:off x="-274375" y="964000"/>
            <a:ext cx="12281100" cy="5572500"/>
          </a:xfrm>
          <a:prstGeom prst="rect">
            <a:avLst/>
          </a:prstGeom>
          <a:noFill/>
          <a:ln>
            <a:noFill/>
          </a:ln>
        </p:spPr>
        <p:txBody>
          <a:bodyPr anchorCtr="0" anchor="t" bIns="45700" lIns="91425" spcFirstLastPara="1" rIns="91425" wrap="square" tIns="45700">
            <a:spAutoFit/>
          </a:bodyPr>
          <a:lstStyle/>
          <a:p>
            <a:pPr indent="0" lvl="0" marL="457200" marR="0" rtl="0" algn="just">
              <a:lnSpc>
                <a:spcPct val="150000"/>
              </a:lnSpc>
              <a:spcBef>
                <a:spcPts val="0"/>
              </a:spcBef>
              <a:spcAft>
                <a:spcPts val="0"/>
              </a:spcAft>
              <a:buClr>
                <a:srgbClr val="000000"/>
              </a:buClr>
              <a:buSzPts val="1600"/>
              <a:buFont typeface="Arial"/>
              <a:buNone/>
            </a:pPr>
            <a:r>
              <a:rPr b="1" i="0" lang="en-US" sz="1600" u="none" cap="none" strike="noStrike">
                <a:solidFill>
                  <a:srgbClr val="1F1F1F"/>
                </a:solidFill>
                <a:highlight>
                  <a:srgbClr val="FFFFFF"/>
                </a:highlight>
                <a:latin typeface="Roboto"/>
                <a:ea typeface="Roboto"/>
                <a:cs typeface="Roboto"/>
                <a:sym typeface="Roboto"/>
              </a:rPr>
              <a:t>Details / Links of the Reference and Research Work:</a:t>
            </a:r>
            <a:endParaRPr b="1" i="0" sz="1600" u="none" cap="none" strike="noStrike">
              <a:solidFill>
                <a:srgbClr val="1F1F1F"/>
              </a:solidFill>
              <a:highlight>
                <a:srgbClr val="FFFFFF"/>
              </a:highlight>
              <a:latin typeface="Roboto"/>
              <a:ea typeface="Roboto"/>
              <a:cs typeface="Roboto"/>
              <a:sym typeface="Roboto"/>
            </a:endParaRPr>
          </a:p>
          <a:p>
            <a:pPr indent="-314325" lvl="1" marL="914400" marR="0" rtl="0" algn="l">
              <a:lnSpc>
                <a:spcPct val="115000"/>
              </a:lnSpc>
              <a:spcBef>
                <a:spcPts val="0"/>
              </a:spcBef>
              <a:spcAft>
                <a:spcPts val="0"/>
              </a:spcAft>
              <a:buClr>
                <a:srgbClr val="1F1F1F"/>
              </a:buClr>
              <a:buSzPts val="1350"/>
              <a:buFont typeface="Roboto"/>
              <a:buChar char="●"/>
            </a:pPr>
            <a:r>
              <a:rPr b="1" i="0" lang="en-US" sz="1350" u="none" cap="none" strike="noStrike">
                <a:solidFill>
                  <a:srgbClr val="1F1F1F"/>
                </a:solidFill>
                <a:highlight>
                  <a:srgbClr val="FFFFFF"/>
                </a:highlight>
                <a:latin typeface="Roboto"/>
                <a:ea typeface="Roboto"/>
                <a:cs typeface="Roboto"/>
                <a:sym typeface="Roboto"/>
              </a:rPr>
              <a:t>Personal Research:</a:t>
            </a:r>
            <a:r>
              <a:rPr b="0" i="0" lang="en-US" sz="1350" u="none" cap="none" strike="noStrike">
                <a:solidFill>
                  <a:srgbClr val="1F1F1F"/>
                </a:solidFill>
                <a:highlight>
                  <a:srgbClr val="FFFFFF"/>
                </a:highlight>
                <a:latin typeface="Roboto"/>
                <a:ea typeface="Roboto"/>
                <a:cs typeface="Roboto"/>
                <a:sym typeface="Roboto"/>
              </a:rPr>
              <a:t> Deep domain investigation using cloud storage resource repositories, comparative project design docs, and published technical research papers on enterprise middleware.</a:t>
            </a:r>
            <a:endParaRPr b="0" i="0" sz="1350" u="none" cap="none" strike="noStrike">
              <a:solidFill>
                <a:srgbClr val="1F1F1F"/>
              </a:solidFill>
              <a:highlight>
                <a:srgbClr val="FFFFFF"/>
              </a:highlight>
              <a:latin typeface="Roboto"/>
              <a:ea typeface="Roboto"/>
              <a:cs typeface="Roboto"/>
              <a:sym typeface="Roboto"/>
            </a:endParaRPr>
          </a:p>
          <a:p>
            <a:pPr indent="-314325" lvl="1" marL="914400" marR="0" rtl="0" algn="l">
              <a:lnSpc>
                <a:spcPct val="115000"/>
              </a:lnSpc>
              <a:spcBef>
                <a:spcPts val="0"/>
              </a:spcBef>
              <a:spcAft>
                <a:spcPts val="0"/>
              </a:spcAft>
              <a:buClr>
                <a:srgbClr val="1F1F1F"/>
              </a:buClr>
              <a:buSzPts val="1350"/>
              <a:buFont typeface="Roboto"/>
              <a:buChar char="●"/>
            </a:pPr>
            <a:r>
              <a:rPr b="1" i="0" lang="en-US" sz="1350" u="none" cap="none" strike="noStrike">
                <a:solidFill>
                  <a:srgbClr val="1F1F1F"/>
                </a:solidFill>
                <a:highlight>
                  <a:srgbClr val="FFFFFF"/>
                </a:highlight>
                <a:latin typeface="Roboto"/>
                <a:ea typeface="Roboto"/>
                <a:cs typeface="Roboto"/>
                <a:sym typeface="Roboto"/>
              </a:rPr>
              <a:t>Government Websites:</a:t>
            </a:r>
            <a:r>
              <a:rPr b="0" i="0" lang="en-US" sz="1350" u="none" cap="none" strike="noStrike">
                <a:solidFill>
                  <a:srgbClr val="1F1F1F"/>
                </a:solidFill>
                <a:highlight>
                  <a:srgbClr val="FFFFFF"/>
                </a:highlight>
                <a:latin typeface="Roboto"/>
                <a:ea typeface="Roboto"/>
                <a:cs typeface="Roboto"/>
                <a:sym typeface="Roboto"/>
              </a:rPr>
              <a:t> Baseline operational flows and SLA standards mapped directly from official Indian grievance and service delivery infrastructures:</a:t>
            </a:r>
            <a:endParaRPr b="0" i="0" sz="1350" u="none" cap="none" strike="noStrike">
              <a:solidFill>
                <a:srgbClr val="1F1F1F"/>
              </a:solidFill>
              <a:highlight>
                <a:srgbClr val="FFFFFF"/>
              </a:highlight>
              <a:latin typeface="Roboto"/>
              <a:ea typeface="Roboto"/>
              <a:cs typeface="Roboto"/>
              <a:sym typeface="Roboto"/>
            </a:endParaRPr>
          </a:p>
          <a:p>
            <a:pPr indent="-314325" lvl="2" marL="1371600" marR="0" rtl="0" algn="l">
              <a:lnSpc>
                <a:spcPct val="115000"/>
              </a:lnSpc>
              <a:spcBef>
                <a:spcPts val="0"/>
              </a:spcBef>
              <a:spcAft>
                <a:spcPts val="0"/>
              </a:spcAft>
              <a:buClr>
                <a:srgbClr val="1F1F1F"/>
              </a:buClr>
              <a:buSzPts val="1350"/>
              <a:buFont typeface="Roboto"/>
              <a:buChar char="●"/>
            </a:pPr>
            <a:r>
              <a:rPr b="1" i="0" lang="en-US" sz="1350" u="none" cap="none" strike="noStrike">
                <a:solidFill>
                  <a:schemeClr val="dk1"/>
                </a:solidFill>
                <a:latin typeface="Arial"/>
                <a:ea typeface="Arial"/>
                <a:cs typeface="Arial"/>
                <a:sym typeface="Arial"/>
              </a:rPr>
              <a:t>CPGRAMS – Centralised Public Grievance Redress and Monitoring System: </a:t>
            </a:r>
            <a:r>
              <a:rPr b="0" i="0" lang="en-US" sz="1350" u="sng" cap="none" strike="noStrike">
                <a:solidFill>
                  <a:schemeClr val="hlink"/>
                </a:solidFill>
                <a:latin typeface="Arial"/>
                <a:ea typeface="Arial"/>
                <a:cs typeface="Arial"/>
                <a:sym typeface="Arial"/>
                <a:hlinkClick r:id="rId3"/>
              </a:rPr>
              <a:t>https://pgportal.gov.in/</a:t>
            </a:r>
            <a:r>
              <a:rPr b="0" i="0" lang="en-US" sz="1350" u="none" cap="none" strike="noStrike">
                <a:solidFill>
                  <a:schemeClr val="dk1"/>
                </a:solidFill>
                <a:latin typeface="Arial"/>
                <a:ea typeface="Arial"/>
                <a:cs typeface="Arial"/>
                <a:sym typeface="Arial"/>
              </a:rPr>
              <a:t> </a:t>
            </a:r>
            <a:endParaRPr b="0" i="0" sz="1350" u="none" cap="none" strike="noStrike">
              <a:solidFill>
                <a:srgbClr val="1F1F1F"/>
              </a:solidFill>
              <a:highlight>
                <a:srgbClr val="FFFFFF"/>
              </a:highlight>
              <a:latin typeface="Roboto"/>
              <a:ea typeface="Roboto"/>
              <a:cs typeface="Roboto"/>
              <a:sym typeface="Roboto"/>
            </a:endParaRPr>
          </a:p>
          <a:p>
            <a:pPr indent="-314325" lvl="2" marL="1371600" marR="0" rtl="0" algn="l">
              <a:lnSpc>
                <a:spcPct val="115000"/>
              </a:lnSpc>
              <a:spcBef>
                <a:spcPts val="0"/>
              </a:spcBef>
              <a:spcAft>
                <a:spcPts val="0"/>
              </a:spcAft>
              <a:buClr>
                <a:srgbClr val="1F1F1F"/>
              </a:buClr>
              <a:buSzPts val="1350"/>
              <a:buFont typeface="Roboto"/>
              <a:buChar char="●"/>
            </a:pPr>
            <a:r>
              <a:rPr b="1" i="0" lang="en-US" sz="1350" u="none" cap="none" strike="noStrike">
                <a:solidFill>
                  <a:schemeClr val="dk1"/>
                </a:solidFill>
                <a:latin typeface="Arial"/>
                <a:ea typeface="Arial"/>
                <a:cs typeface="Arial"/>
                <a:sym typeface="Arial"/>
              </a:rPr>
              <a:t>National Government Services Portal: </a:t>
            </a:r>
            <a:r>
              <a:rPr b="0" i="0" lang="en-US" sz="1350" u="sng" cap="none" strike="noStrike">
                <a:solidFill>
                  <a:schemeClr val="hlink"/>
                </a:solidFill>
                <a:latin typeface="Arial"/>
                <a:ea typeface="Arial"/>
                <a:cs typeface="Arial"/>
                <a:sym typeface="Arial"/>
                <a:hlinkClick r:id="rId4"/>
              </a:rPr>
              <a:t>https://services.india.gov.in/</a:t>
            </a:r>
            <a:r>
              <a:rPr b="0" i="0" lang="en-US" sz="1350" u="none" cap="none" strike="noStrike">
                <a:solidFill>
                  <a:schemeClr val="dk1"/>
                </a:solidFill>
                <a:latin typeface="Arial"/>
                <a:ea typeface="Arial"/>
                <a:cs typeface="Arial"/>
                <a:sym typeface="Arial"/>
              </a:rPr>
              <a:t> </a:t>
            </a:r>
            <a:endParaRPr b="0" i="0" sz="1350" u="none" cap="none" strike="noStrike">
              <a:solidFill>
                <a:srgbClr val="1F1F1F"/>
              </a:solidFill>
              <a:highlight>
                <a:srgbClr val="FFFFFF"/>
              </a:highlight>
              <a:latin typeface="Roboto"/>
              <a:ea typeface="Roboto"/>
              <a:cs typeface="Roboto"/>
              <a:sym typeface="Roboto"/>
            </a:endParaRPr>
          </a:p>
          <a:p>
            <a:pPr indent="-314325" lvl="1" marL="914400" marR="0" rtl="0" algn="l">
              <a:lnSpc>
                <a:spcPct val="115000"/>
              </a:lnSpc>
              <a:spcBef>
                <a:spcPts val="0"/>
              </a:spcBef>
              <a:spcAft>
                <a:spcPts val="0"/>
              </a:spcAft>
              <a:buClr>
                <a:srgbClr val="1F1F1F"/>
              </a:buClr>
              <a:buSzPts val="1350"/>
              <a:buFont typeface="Roboto"/>
              <a:buChar char="●"/>
            </a:pPr>
            <a:r>
              <a:rPr b="1" i="0" lang="en-US" sz="1350" u="none" cap="none" strike="noStrike">
                <a:solidFill>
                  <a:srgbClr val="1F1F1F"/>
                </a:solidFill>
                <a:highlight>
                  <a:srgbClr val="FFFFFF"/>
                </a:highlight>
                <a:latin typeface="Roboto"/>
                <a:ea typeface="Roboto"/>
                <a:cs typeface="Roboto"/>
                <a:sym typeface="Roboto"/>
              </a:rPr>
              <a:t>AI &amp; Open-Source ML Repositories:</a:t>
            </a:r>
            <a:r>
              <a:rPr b="0" i="0" lang="en-US" sz="1350" u="none" cap="none" strike="noStrike">
                <a:solidFill>
                  <a:srgbClr val="1F1F1F"/>
                </a:solidFill>
                <a:highlight>
                  <a:srgbClr val="FFFFFF"/>
                </a:highlight>
                <a:latin typeface="Roboto"/>
                <a:ea typeface="Roboto"/>
                <a:cs typeface="Roboto"/>
                <a:sym typeface="Roboto"/>
              </a:rPr>
              <a:t> Large Language Models used for code synthesis and architectural brainstorming, combined with public datasets and pre-trained pipelines for classification tasks:</a:t>
            </a:r>
            <a:endParaRPr b="0" i="0" sz="1350" u="none" cap="none" strike="noStrike">
              <a:solidFill>
                <a:srgbClr val="1F1F1F"/>
              </a:solidFill>
              <a:highlight>
                <a:srgbClr val="FFFFFF"/>
              </a:highlight>
              <a:latin typeface="Roboto"/>
              <a:ea typeface="Roboto"/>
              <a:cs typeface="Roboto"/>
              <a:sym typeface="Roboto"/>
            </a:endParaRPr>
          </a:p>
          <a:p>
            <a:pPr indent="-314325" lvl="0" marL="1371600" marR="0" rtl="0" algn="l">
              <a:lnSpc>
                <a:spcPct val="115000"/>
              </a:lnSpc>
              <a:spcBef>
                <a:spcPts val="0"/>
              </a:spcBef>
              <a:spcAft>
                <a:spcPts val="0"/>
              </a:spcAft>
              <a:buClr>
                <a:srgbClr val="1F1F1F"/>
              </a:buClr>
              <a:buSzPts val="1350"/>
              <a:buFont typeface="Arial"/>
              <a:buChar char="●"/>
            </a:pPr>
            <a:r>
              <a:rPr b="0" i="0" lang="en-US" sz="1350" u="none" cap="none" strike="noStrike">
                <a:solidFill>
                  <a:srgbClr val="1F1F1F"/>
                </a:solidFill>
                <a:highlight>
                  <a:srgbClr val="FFFFFF"/>
                </a:highlight>
                <a:latin typeface="Arial"/>
                <a:ea typeface="Arial"/>
                <a:cs typeface="Arial"/>
                <a:sym typeface="Arial"/>
              </a:rPr>
              <a:t>Foundational AI Engines: Claude, Perplexity</a:t>
            </a:r>
            <a:endParaRPr b="0" i="0" sz="1350" u="none" cap="none" strike="noStrike">
              <a:solidFill>
                <a:srgbClr val="1F1F1F"/>
              </a:solidFill>
              <a:highlight>
                <a:srgbClr val="FFFFFF"/>
              </a:highlight>
              <a:latin typeface="Arial"/>
              <a:ea typeface="Arial"/>
              <a:cs typeface="Arial"/>
              <a:sym typeface="Arial"/>
            </a:endParaRPr>
          </a:p>
          <a:p>
            <a:pPr indent="-314325" lvl="0" marL="1371600" marR="0" rtl="0" algn="l">
              <a:lnSpc>
                <a:spcPct val="115000"/>
              </a:lnSpc>
              <a:spcBef>
                <a:spcPts val="0"/>
              </a:spcBef>
              <a:spcAft>
                <a:spcPts val="0"/>
              </a:spcAft>
              <a:buClr>
                <a:srgbClr val="1F1F1F"/>
              </a:buClr>
              <a:buSzPts val="1350"/>
              <a:buFont typeface="Arial"/>
              <a:buChar char="●"/>
            </a:pPr>
            <a:r>
              <a:rPr b="0" i="0" lang="en-US" sz="1350" u="none" cap="none" strike="noStrike">
                <a:solidFill>
                  <a:srgbClr val="1F1F1F"/>
                </a:solidFill>
                <a:highlight>
                  <a:srgbClr val="FFFFFF"/>
                </a:highlight>
                <a:latin typeface="Arial"/>
                <a:ea typeface="Arial"/>
                <a:cs typeface="Arial"/>
                <a:sym typeface="Arial"/>
              </a:rPr>
              <a:t>ML Assets &amp; Open Notebooks: Kaggle Datasets, Hugging Face Model Hub, Ultralytics YOLOv8 Repositories</a:t>
            </a:r>
            <a:endParaRPr b="0" i="0" sz="1350" u="none" cap="none" strike="noStrike">
              <a:solidFill>
                <a:srgbClr val="1F1F1F"/>
              </a:solidFill>
              <a:highlight>
                <a:srgbClr val="FFFFFF"/>
              </a:highlight>
              <a:latin typeface="Arial"/>
              <a:ea typeface="Arial"/>
              <a:cs typeface="Arial"/>
              <a:sym typeface="Arial"/>
            </a:endParaRPr>
          </a:p>
          <a:p>
            <a:pPr indent="-314325" lvl="1" marL="914400" marR="0" rtl="0" algn="l">
              <a:lnSpc>
                <a:spcPct val="115000"/>
              </a:lnSpc>
              <a:spcBef>
                <a:spcPts val="0"/>
              </a:spcBef>
              <a:spcAft>
                <a:spcPts val="0"/>
              </a:spcAft>
              <a:buClr>
                <a:srgbClr val="1F1F1F"/>
              </a:buClr>
              <a:buSzPts val="1350"/>
              <a:buFont typeface="Roboto"/>
              <a:buChar char="●"/>
            </a:pPr>
            <a:r>
              <a:rPr b="1" i="0" lang="en-US" sz="1350" u="none" cap="none" strike="noStrike">
                <a:solidFill>
                  <a:srgbClr val="1F1F1F"/>
                </a:solidFill>
                <a:highlight>
                  <a:srgbClr val="FFFFFF"/>
                </a:highlight>
                <a:latin typeface="Roboto"/>
                <a:ea typeface="Roboto"/>
                <a:cs typeface="Roboto"/>
                <a:sym typeface="Roboto"/>
              </a:rPr>
              <a:t>Public Information Indexes:</a:t>
            </a:r>
            <a:r>
              <a:rPr b="0" i="0" lang="en-US" sz="1350" u="none" cap="none" strike="noStrike">
                <a:solidFill>
                  <a:srgbClr val="1F1F1F"/>
                </a:solidFill>
                <a:highlight>
                  <a:srgbClr val="FFFFFF"/>
                </a:highlight>
                <a:latin typeface="Roboto"/>
                <a:ea typeface="Roboto"/>
                <a:cs typeface="Roboto"/>
                <a:sym typeface="Roboto"/>
              </a:rPr>
              <a:t> General knowledge validation, schema verification, and engine mapping:</a:t>
            </a:r>
            <a:endParaRPr b="0" i="0" sz="1350" u="none" cap="none" strike="noStrike">
              <a:solidFill>
                <a:srgbClr val="1F1F1F"/>
              </a:solidFill>
              <a:highlight>
                <a:srgbClr val="FFFFFF"/>
              </a:highlight>
              <a:latin typeface="Roboto"/>
              <a:ea typeface="Roboto"/>
              <a:cs typeface="Roboto"/>
              <a:sym typeface="Roboto"/>
            </a:endParaRPr>
          </a:p>
          <a:p>
            <a:pPr indent="-314325" lvl="2" marL="1371600" marR="0" rtl="0" algn="l">
              <a:lnSpc>
                <a:spcPct val="115000"/>
              </a:lnSpc>
              <a:spcBef>
                <a:spcPts val="0"/>
              </a:spcBef>
              <a:spcAft>
                <a:spcPts val="0"/>
              </a:spcAft>
              <a:buClr>
                <a:srgbClr val="1F1F1F"/>
              </a:buClr>
              <a:buSzPts val="1350"/>
              <a:buFont typeface="Roboto"/>
              <a:buChar char="●"/>
            </a:pPr>
            <a:r>
              <a:rPr b="1" i="0" lang="en-US" sz="1350" u="none" cap="none" strike="noStrike">
                <a:solidFill>
                  <a:schemeClr val="dk1"/>
                </a:solidFill>
                <a:latin typeface="Arial"/>
                <a:ea typeface="Arial"/>
                <a:cs typeface="Arial"/>
                <a:sym typeface="Arial"/>
              </a:rPr>
              <a:t>Open Government Data (OGD) Platform India: </a:t>
            </a:r>
            <a:r>
              <a:rPr b="0" i="0" lang="en-US" sz="1350" u="sng" cap="none" strike="noStrike">
                <a:solidFill>
                  <a:schemeClr val="hlink"/>
                </a:solidFill>
                <a:latin typeface="Arial"/>
                <a:ea typeface="Arial"/>
                <a:cs typeface="Arial"/>
                <a:sym typeface="Arial"/>
                <a:hlinkClick r:id="rId5"/>
              </a:rPr>
              <a:t>https://data.gov.in/</a:t>
            </a:r>
            <a:r>
              <a:rPr b="0" i="0" lang="en-US" sz="1350" u="none" cap="none" strike="noStrike">
                <a:solidFill>
                  <a:schemeClr val="dk1"/>
                </a:solidFill>
                <a:latin typeface="Arial"/>
                <a:ea typeface="Arial"/>
                <a:cs typeface="Arial"/>
                <a:sym typeface="Arial"/>
              </a:rPr>
              <a:t> </a:t>
            </a:r>
            <a:endParaRPr b="0" i="0" sz="1350" u="none" cap="none" strike="noStrike">
              <a:solidFill>
                <a:srgbClr val="1F1F1F"/>
              </a:solidFill>
              <a:highlight>
                <a:srgbClr val="FFFFFF"/>
              </a:highlight>
              <a:latin typeface="Roboto"/>
              <a:ea typeface="Roboto"/>
              <a:cs typeface="Roboto"/>
              <a:sym typeface="Roboto"/>
            </a:endParaRPr>
          </a:p>
          <a:p>
            <a:pPr indent="-314325" lvl="2" marL="1371600" marR="0" rtl="0" algn="just">
              <a:lnSpc>
                <a:spcPct val="115000"/>
              </a:lnSpc>
              <a:spcBef>
                <a:spcPts val="0"/>
              </a:spcBef>
              <a:spcAft>
                <a:spcPts val="0"/>
              </a:spcAft>
              <a:buClr>
                <a:srgbClr val="1F1F1F"/>
              </a:buClr>
              <a:buSzPts val="1350"/>
              <a:buFont typeface="Roboto"/>
              <a:buChar char="●"/>
            </a:pPr>
            <a:r>
              <a:rPr b="1" i="0" lang="en-US" sz="1350" u="none" cap="none" strike="noStrike">
                <a:solidFill>
                  <a:schemeClr val="dk1"/>
                </a:solidFill>
                <a:latin typeface="Arial"/>
                <a:ea typeface="Arial"/>
                <a:cs typeface="Arial"/>
                <a:sym typeface="Arial"/>
              </a:rPr>
              <a:t>Metadata &amp; Data Standards (MDDS) / API Setu Documentation: </a:t>
            </a:r>
            <a:r>
              <a:rPr b="0" i="0" lang="en-US" sz="1350" u="sng" cap="none" strike="noStrike">
                <a:solidFill>
                  <a:schemeClr val="hlink"/>
                </a:solidFill>
                <a:latin typeface="Arial"/>
                <a:ea typeface="Arial"/>
                <a:cs typeface="Arial"/>
                <a:sym typeface="Arial"/>
                <a:hlinkClick r:id="rId6"/>
              </a:rPr>
              <a:t>https://docs.apisetu.gov.in/document-central/mdds/Introduction.html</a:t>
            </a:r>
            <a:r>
              <a:rPr b="0" i="0" lang="en-US" sz="1350" u="none" cap="none" strike="noStrike">
                <a:solidFill>
                  <a:schemeClr val="dk1"/>
                </a:solidFill>
                <a:latin typeface="Arial"/>
                <a:ea typeface="Arial"/>
                <a:cs typeface="Arial"/>
                <a:sym typeface="Arial"/>
              </a:rPr>
              <a:t> </a:t>
            </a:r>
            <a:endParaRPr b="0" i="0" sz="1350" u="none" cap="none" strike="noStrike">
              <a:solidFill>
                <a:schemeClr val="dk1"/>
              </a:solidFill>
              <a:latin typeface="Arial"/>
              <a:ea typeface="Arial"/>
              <a:cs typeface="Arial"/>
              <a:sym typeface="Arial"/>
            </a:endParaRPr>
          </a:p>
          <a:p>
            <a:pPr indent="0" lvl="0" marL="457200" marR="0" rtl="0" algn="just">
              <a:lnSpc>
                <a:spcPct val="150000"/>
              </a:lnSpc>
              <a:spcBef>
                <a:spcPts val="10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Project Resources &amp; Prototype Evidence:</a:t>
            </a:r>
            <a:r>
              <a:rPr b="0" i="0" lang="en-US" sz="1100" u="none" cap="none" strike="noStrike">
                <a:solidFill>
                  <a:schemeClr val="dk1"/>
                </a:solidFill>
                <a:latin typeface="Arial"/>
                <a:ea typeface="Arial"/>
                <a:cs typeface="Arial"/>
                <a:sym typeface="Arial"/>
              </a:rPr>
              <a:t> </a:t>
            </a:r>
            <a:r>
              <a:rPr b="0" i="0" lang="en-US" sz="1300" u="none" cap="none" strike="noStrike">
                <a:solidFill>
                  <a:schemeClr val="dk1"/>
                </a:solidFill>
                <a:latin typeface="Arial"/>
                <a:ea typeface="Arial"/>
                <a:cs typeface="Arial"/>
                <a:sym typeface="Arial"/>
              </a:rPr>
              <a:t>Links to the project documentation, working prototype, and demonstration:</a:t>
            </a:r>
            <a:endParaRPr b="0" i="0" sz="1300" u="none" cap="none" strike="noStrike">
              <a:solidFill>
                <a:schemeClr val="dk1"/>
              </a:solidFill>
              <a:latin typeface="Arial"/>
              <a:ea typeface="Arial"/>
              <a:cs typeface="Arial"/>
              <a:sym typeface="Arial"/>
            </a:endParaRPr>
          </a:p>
          <a:p>
            <a:pPr indent="-320675" lvl="0" marL="914400" marR="0" rtl="0" algn="l">
              <a:lnSpc>
                <a:spcPct val="115000"/>
              </a:lnSpc>
              <a:spcBef>
                <a:spcPts val="0"/>
              </a:spcBef>
              <a:spcAft>
                <a:spcPts val="0"/>
              </a:spcAft>
              <a:buClr>
                <a:schemeClr val="dk1"/>
              </a:buClr>
              <a:buSzPts val="1450"/>
              <a:buFont typeface="Arial"/>
              <a:buChar char="●"/>
            </a:pPr>
            <a:r>
              <a:rPr b="1" i="0" lang="en-US" sz="1450" u="none" cap="none" strike="noStrike">
                <a:solidFill>
                  <a:schemeClr val="dk1"/>
                </a:solidFill>
                <a:latin typeface="Arial"/>
                <a:ea typeface="Arial"/>
                <a:cs typeface="Arial"/>
                <a:sym typeface="Arial"/>
              </a:rPr>
              <a:t>Live Prototype:</a:t>
            </a:r>
            <a:r>
              <a:rPr b="0" i="0" lang="en-US" sz="1450" u="none" cap="none" strike="noStrike">
                <a:solidFill>
                  <a:schemeClr val="dk1"/>
                </a:solidFill>
                <a:latin typeface="Arial"/>
                <a:ea typeface="Arial"/>
                <a:cs typeface="Arial"/>
                <a:sym typeface="Arial"/>
              </a:rPr>
              <a:t> </a:t>
            </a:r>
            <a:r>
              <a:rPr b="0" i="0" lang="en-US" sz="1450" u="sng" cap="none" strike="noStrike">
                <a:solidFill>
                  <a:schemeClr val="hlink"/>
                </a:solidFill>
                <a:latin typeface="Arial"/>
                <a:ea typeface="Arial"/>
                <a:cs typeface="Arial"/>
                <a:sym typeface="Arial"/>
                <a:hlinkClick r:id="rId7"/>
              </a:rPr>
              <a:t>https://jansetu-nq8s.onrender.com/ </a:t>
            </a:r>
            <a:br>
              <a:rPr b="0" i="0" lang="en-US" sz="1450" u="none" cap="none" strike="noStrike">
                <a:solidFill>
                  <a:schemeClr val="dk1"/>
                </a:solidFill>
                <a:latin typeface="Arial"/>
                <a:ea typeface="Arial"/>
                <a:cs typeface="Arial"/>
                <a:sym typeface="Arial"/>
              </a:rPr>
            </a:br>
            <a:r>
              <a:rPr b="0" i="0" lang="en-US" sz="1450" u="none" cap="none" strike="noStrike">
                <a:solidFill>
                  <a:schemeClr val="dk1"/>
                </a:solidFill>
                <a:latin typeface="Arial"/>
                <a:ea typeface="Arial"/>
                <a:cs typeface="Arial"/>
                <a:sym typeface="Arial"/>
              </a:rPr>
              <a:t>Demonstrates the citizen portal, department dashboards, authentication, complaint handling, and other key features.</a:t>
            </a:r>
            <a:endParaRPr b="0" i="0" sz="1450" u="none" cap="none" strike="noStrike">
              <a:solidFill>
                <a:schemeClr val="dk1"/>
              </a:solidFill>
              <a:latin typeface="Arial"/>
              <a:ea typeface="Arial"/>
              <a:cs typeface="Arial"/>
              <a:sym typeface="Arial"/>
            </a:endParaRPr>
          </a:p>
          <a:p>
            <a:pPr indent="-320675" lvl="0" marL="914400" marR="0" rtl="0" algn="l">
              <a:lnSpc>
                <a:spcPct val="115000"/>
              </a:lnSpc>
              <a:spcBef>
                <a:spcPts val="0"/>
              </a:spcBef>
              <a:spcAft>
                <a:spcPts val="0"/>
              </a:spcAft>
              <a:buClr>
                <a:schemeClr val="dk1"/>
              </a:buClr>
              <a:buSzPts val="1450"/>
              <a:buFont typeface="Arial"/>
              <a:buChar char="●"/>
            </a:pPr>
            <a:r>
              <a:rPr b="1" i="0" lang="en-US" sz="1450" u="none" cap="none" strike="noStrike">
                <a:solidFill>
                  <a:schemeClr val="dk1"/>
                </a:solidFill>
                <a:latin typeface="Arial"/>
                <a:ea typeface="Arial"/>
                <a:cs typeface="Arial"/>
                <a:sym typeface="Arial"/>
              </a:rPr>
              <a:t>Project Documentation:</a:t>
            </a:r>
            <a:r>
              <a:rPr b="0" i="0" lang="en-US" sz="1450" u="none" cap="none" strike="noStrike">
                <a:solidFill>
                  <a:schemeClr val="dk1"/>
                </a:solidFill>
                <a:latin typeface="Arial"/>
                <a:ea typeface="Arial"/>
                <a:cs typeface="Arial"/>
                <a:sym typeface="Arial"/>
              </a:rPr>
              <a:t> </a:t>
            </a:r>
            <a:r>
              <a:rPr b="0" i="0" lang="en-US" sz="1450" u="sng" cap="none" strike="noStrike">
                <a:solidFill>
                  <a:schemeClr val="hlink"/>
                </a:solidFill>
                <a:latin typeface="Arial"/>
                <a:ea typeface="Arial"/>
                <a:cs typeface="Arial"/>
                <a:sym typeface="Arial"/>
              </a:rPr>
              <a:t>https://drive.google.com/drive/folders/1HBC23cqqkyiY4R07rE0eK9fj5LzPM57p?usp=drive_link</a:t>
            </a:r>
            <a:br>
              <a:rPr b="0" i="0" lang="en-US" sz="1450" u="none" cap="none" strike="noStrike">
                <a:solidFill>
                  <a:schemeClr val="dk1"/>
                </a:solidFill>
                <a:latin typeface="Arial"/>
                <a:ea typeface="Arial"/>
                <a:cs typeface="Arial"/>
                <a:sym typeface="Arial"/>
              </a:rPr>
            </a:br>
            <a:r>
              <a:rPr b="0" i="0" lang="en-US" sz="1450" u="none" cap="none" strike="noStrike">
                <a:solidFill>
                  <a:schemeClr val="dk1"/>
                </a:solidFill>
                <a:latin typeface="Arial"/>
                <a:ea typeface="Arial"/>
                <a:cs typeface="Arial"/>
                <a:sym typeface="Arial"/>
              </a:rPr>
              <a:t>Includes research, diagrams, feasibility studies, SDLC documents, acceptance criteria, and technical references.</a:t>
            </a:r>
            <a:endParaRPr b="0" i="0" sz="1450" u="none" cap="none" strike="noStrike">
              <a:solidFill>
                <a:schemeClr val="dk1"/>
              </a:solidFill>
              <a:latin typeface="Arial"/>
              <a:ea typeface="Arial"/>
              <a:cs typeface="Arial"/>
              <a:sym typeface="Arial"/>
            </a:endParaRPr>
          </a:p>
          <a:p>
            <a:pPr indent="-320675" lvl="0" marL="914400" marR="0" rtl="0" algn="l">
              <a:lnSpc>
                <a:spcPct val="115000"/>
              </a:lnSpc>
              <a:spcBef>
                <a:spcPts val="0"/>
              </a:spcBef>
              <a:spcAft>
                <a:spcPts val="0"/>
              </a:spcAft>
              <a:buClr>
                <a:schemeClr val="dk1"/>
              </a:buClr>
              <a:buSzPts val="1450"/>
              <a:buFont typeface="Arial"/>
              <a:buChar char="●"/>
            </a:pPr>
            <a:r>
              <a:rPr b="1" i="0" lang="en-US" sz="1450" u="none" cap="none" strike="noStrike">
                <a:solidFill>
                  <a:schemeClr val="dk1"/>
                </a:solidFill>
                <a:latin typeface="Arial"/>
                <a:ea typeface="Arial"/>
                <a:cs typeface="Arial"/>
                <a:sym typeface="Arial"/>
              </a:rPr>
              <a:t>Prototype Demonstration:</a:t>
            </a:r>
            <a:r>
              <a:rPr b="0" i="0" lang="en-US" sz="1450" u="none" cap="none" strike="noStrike">
                <a:solidFill>
                  <a:schemeClr val="dk1"/>
                </a:solidFill>
                <a:latin typeface="Arial"/>
                <a:ea typeface="Arial"/>
                <a:cs typeface="Arial"/>
                <a:sym typeface="Arial"/>
              </a:rPr>
              <a:t> </a:t>
            </a:r>
            <a:r>
              <a:rPr b="0" i="0" lang="en-US" sz="1450" u="sng" cap="none" strike="noStrike">
                <a:solidFill>
                  <a:schemeClr val="hlink"/>
                </a:solidFill>
                <a:latin typeface="Arial"/>
                <a:ea typeface="Arial"/>
                <a:cs typeface="Arial"/>
                <a:sym typeface="Arial"/>
                <a:hlinkClick r:id="rId8"/>
              </a:rPr>
              <a:t>https://drive.google.com/drive/folders/1tkv5C6uyZRkYQMvk8dGtS7vpGJ21Ca27?usp=sharing </a:t>
            </a:r>
            <a:br>
              <a:rPr b="0" i="0" lang="en-US" sz="1450" u="none" cap="none" strike="noStrike">
                <a:solidFill>
                  <a:schemeClr val="dk1"/>
                </a:solidFill>
                <a:latin typeface="Arial"/>
                <a:ea typeface="Arial"/>
                <a:cs typeface="Arial"/>
                <a:sym typeface="Arial"/>
              </a:rPr>
            </a:br>
            <a:r>
              <a:rPr b="0" i="0" lang="en-US" sz="1450" u="none" cap="none" strike="noStrike">
                <a:solidFill>
                  <a:schemeClr val="dk1"/>
                </a:solidFill>
                <a:latin typeface="Arial"/>
                <a:ea typeface="Arial"/>
                <a:cs typeface="Arial"/>
                <a:sym typeface="Arial"/>
              </a:rPr>
              <a:t>Provides a walkthrough of the prototype, user flow, dashboards, and main functionalities.</a:t>
            </a:r>
            <a:endParaRPr b="0" i="0" sz="1450" u="none" cap="none" strike="noStrike">
              <a:solidFill>
                <a:schemeClr val="dk1"/>
              </a:solidFill>
              <a:latin typeface="Arial"/>
              <a:ea typeface="Arial"/>
              <a:cs typeface="Arial"/>
              <a:sym typeface="Arial"/>
            </a:endParaRPr>
          </a:p>
        </p:txBody>
      </p:sp>
      <p:sp>
        <p:nvSpPr>
          <p:cNvPr id="163" name="Google Shape;163;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64" name="Google Shape;164;p6"/>
          <p:cNvSpPr/>
          <p:nvPr/>
        </p:nvSpPr>
        <p:spPr>
          <a:xfrm>
            <a:off x="0" y="6492754"/>
            <a:ext cx="12192000" cy="365100"/>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pic>
        <p:nvPicPr>
          <p:cNvPr id="165" name="Google Shape;165;p6" title="crazy.png"/>
          <p:cNvPicPr preferRelativeResize="0"/>
          <p:nvPr/>
        </p:nvPicPr>
        <p:blipFill rotWithShape="1">
          <a:blip r:embed="rId9">
            <a:alphaModFix/>
          </a:blip>
          <a:srcRect b="0" l="0" r="0" t="0"/>
          <a:stretch/>
        </p:blipFill>
        <p:spPr>
          <a:xfrm>
            <a:off x="10724475" y="31261"/>
            <a:ext cx="1167750" cy="1025275"/>
          </a:xfrm>
          <a:prstGeom prst="rect">
            <a:avLst/>
          </a:prstGeom>
          <a:noFill/>
          <a:ln>
            <a:noFill/>
          </a:ln>
        </p:spPr>
      </p:pic>
      <p:pic>
        <p:nvPicPr>
          <p:cNvPr id="166" name="Google Shape;166;p6" title="SIH-Logo.png"/>
          <p:cNvPicPr preferRelativeResize="0"/>
          <p:nvPr/>
        </p:nvPicPr>
        <p:blipFill rotWithShape="1">
          <a:blip r:embed="rId10">
            <a:alphaModFix/>
          </a:blip>
          <a:srcRect b="0" l="0" r="0" t="0"/>
          <a:stretch/>
        </p:blipFill>
        <p:spPr>
          <a:xfrm>
            <a:off x="199805" y="105741"/>
            <a:ext cx="1724025" cy="876300"/>
          </a:xfrm>
          <a:prstGeom prst="rect">
            <a:avLst/>
          </a:prstGeom>
          <a:noFill/>
          <a:ln>
            <a:noFill/>
          </a:ln>
        </p:spPr>
      </p:pic>
      <p:sp>
        <p:nvSpPr>
          <p:cNvPr id="167" name="Google Shape;167;p6"/>
          <p:cNvSpPr txBox="1"/>
          <p:nvPr>
            <p:ph idx="12" type="sldNum"/>
          </p:nvPr>
        </p:nvSpPr>
        <p:spPr>
          <a:xfrm>
            <a:off x="8737600" y="6495128"/>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US">
                <a:solidFill>
                  <a:schemeClr val="lt1"/>
                </a:solidFill>
              </a:rPr>
              <a:t>‹#›</a:t>
            </a:fld>
            <a:endParaRPr b="1">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Samriddhi</dc:creator>
</cp:coreProperties>
</file>